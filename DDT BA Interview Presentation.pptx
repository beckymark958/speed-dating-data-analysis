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264" r:id="rId4"/>
    <p:sldId id="267" r:id="rId5"/>
    <p:sldId id="263" r:id="rId6"/>
    <p:sldId id="266" r:id="rId7"/>
    <p:sldId id="265" r:id="rId8"/>
    <p:sldId id="271" r:id="rId9"/>
    <p:sldId id="268" r:id="rId10"/>
    <p:sldId id="274" r:id="rId11"/>
    <p:sldId id="273" r:id="rId12"/>
    <p:sldId id="270" r:id="rId13"/>
    <p:sldId id="269"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84CB7E"/>
    <a:srgbClr val="0298DB"/>
    <a:srgbClr val="323E4A"/>
    <a:srgbClr val="0098DB"/>
    <a:srgbClr val="FDB839"/>
    <a:srgbClr val="F8665F"/>
    <a:srgbClr val="0090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85C9C-6F85-40B2-B660-F89A86D604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21D3475-8C02-4820-AB02-61450AB721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ADD039-0642-4CC9-962B-81D020DA6304}"/>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B1BBB45F-AA3F-44F1-A1D0-F5725AA095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90A7C-A543-4013-85A7-3CB80A45E346}"/>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3055949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663FC-BA44-4A6F-B77E-19A455D0BE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C951C8-0568-42A5-8C73-3CD3C48283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3FC420-0B00-4BF5-BC55-C1321418102D}"/>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C263E6D3-9962-4108-B5E6-5DD9DA82A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2C67E-A93C-48B5-BFCE-0E31A5A85F38}"/>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1002549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D566F-DAB3-4746-8E3F-0874D3F2E8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E27E43-4170-44BE-806C-DAE1A2650B4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120465-FCE1-4F73-BC57-F46A7E5A9286}"/>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B691ECB2-E036-44A1-B074-9F3BC244FB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8B9EF3-390A-444C-A6F8-26C46462F48E}"/>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2454965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A7DB-EE42-4448-BAD0-441E893DA0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3EEDCD-27F0-4EA7-A2A8-DC687D2CF0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7CFC47-BF5D-435E-B055-8097F9F727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3A98C7-C097-420B-9D27-5260290F2F97}"/>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6" name="Footer Placeholder 5">
            <a:extLst>
              <a:ext uri="{FF2B5EF4-FFF2-40B4-BE49-F238E27FC236}">
                <a16:creationId xmlns:a16="http://schemas.microsoft.com/office/drawing/2014/main" id="{B663A86F-3100-4060-8824-E6C6331D3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D91810-0FDD-4539-9E63-4CBB157A8C07}"/>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2335903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9E883-1F11-46A2-953E-998A601C07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2D1C8D-A695-4255-856B-5E7F373348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CF6328-B148-4544-B14B-2CE8507EE2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2CA7FB-5AF5-4000-AFD6-F69753AEB2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3F71A5-CC2B-44BA-A79B-0B0C751A33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353CDE-3331-4B75-8FC7-DA21EC71EF2D}"/>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8" name="Footer Placeholder 7">
            <a:extLst>
              <a:ext uri="{FF2B5EF4-FFF2-40B4-BE49-F238E27FC236}">
                <a16:creationId xmlns:a16="http://schemas.microsoft.com/office/drawing/2014/main" id="{78BE96D6-351A-4900-82A9-3436176560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22D8A0-76A5-46D5-8F7E-8F6BC2E5D7DC}"/>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257659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B8FDA-3F4A-4421-85F3-3C8BA57CC1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2A6A070-D2BF-43B3-B82C-10C6DCB56F10}"/>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4" name="Footer Placeholder 3">
            <a:extLst>
              <a:ext uri="{FF2B5EF4-FFF2-40B4-BE49-F238E27FC236}">
                <a16:creationId xmlns:a16="http://schemas.microsoft.com/office/drawing/2014/main" id="{29FFD7AC-7555-4490-AD73-1FEA5C914E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74F556-1706-4D17-AF50-B1198D70EBF1}"/>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1872486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1362DA-C514-447E-8C47-6F24195B700A}"/>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3" name="Footer Placeholder 2">
            <a:extLst>
              <a:ext uri="{FF2B5EF4-FFF2-40B4-BE49-F238E27FC236}">
                <a16:creationId xmlns:a16="http://schemas.microsoft.com/office/drawing/2014/main" id="{D07F1253-CC76-4192-A618-658A9B0E2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C15FF4-FC18-4274-B022-93D1BE9825B4}"/>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3911973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FD98-2F3A-4FEF-9423-5A1402277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3E85DE-9753-41EE-9B79-4ADE8CA90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2E9ACC-7FA6-4A5A-A593-42A38E7E2E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DA13EF-A345-4B82-968D-0944B0F70E36}"/>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6" name="Footer Placeholder 5">
            <a:extLst>
              <a:ext uri="{FF2B5EF4-FFF2-40B4-BE49-F238E27FC236}">
                <a16:creationId xmlns:a16="http://schemas.microsoft.com/office/drawing/2014/main" id="{AA2AE2A3-2ACC-4991-982F-5AB2001EF8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0F4C27-ED3D-4051-8F3C-D1A609B8B3E3}"/>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1011511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DD96-822D-4696-A1D5-F6922F00C0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C6CCAC-E317-40E7-A13C-A486DAB342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1F064CF-E676-4D4A-9526-DBE47768D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01C1F-6836-4A36-8F2B-5DAF862C4606}"/>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6" name="Footer Placeholder 5">
            <a:extLst>
              <a:ext uri="{FF2B5EF4-FFF2-40B4-BE49-F238E27FC236}">
                <a16:creationId xmlns:a16="http://schemas.microsoft.com/office/drawing/2014/main" id="{AD310AE6-1D57-4C60-9725-3D6737893D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682FE4-0769-46FF-B56B-BA4246320D8E}"/>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1597102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146A-FE27-4E15-8C32-F050442977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FB9FAB-B28E-42DA-B4D7-AFE63D7480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370122-6CE2-4FCB-9009-5085ECA0188D}"/>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68A38D05-AF57-4DBF-99E3-C56BC0AC1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C325C0-85CA-43E9-A4AD-605C40A3E6E1}"/>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2627042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4DFBC5-4E33-448B-B3B0-D52242E03B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F5B741-0737-4B98-A606-9D84022DAB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3FCEB5-2F5E-4929-BDA4-E091107F5D1C}"/>
              </a:ext>
            </a:extLst>
          </p:cNvPr>
          <p:cNvSpPr>
            <a:spLocks noGrp="1"/>
          </p:cNvSpPr>
          <p:nvPr>
            <p:ph type="dt" sz="half" idx="10"/>
          </p:nvPr>
        </p:nvSpPr>
        <p:spPr/>
        <p:txBody>
          <a:body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4C37D528-E950-4661-8F1E-16C5E31DC7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14537-2ACD-49A4-9466-0A47A461F296}"/>
              </a:ext>
            </a:extLst>
          </p:cNvPr>
          <p:cNvSpPr>
            <a:spLocks noGrp="1"/>
          </p:cNvSpPr>
          <p:nvPr>
            <p:ph type="sldNum" sz="quarter" idx="12"/>
          </p:nvPr>
        </p:nvSpPr>
        <p:spPr/>
        <p:txBody>
          <a:bodyPr/>
          <a:lstStyle/>
          <a:p>
            <a:fld id="{C6C2EAB4-8F35-4879-9DEE-D953136547CE}" type="slidenum">
              <a:rPr lang="en-US" smtClean="0"/>
              <a:t>‹#›</a:t>
            </a:fld>
            <a:endParaRPr lang="en-US"/>
          </a:p>
        </p:txBody>
      </p:sp>
    </p:spTree>
    <p:extLst>
      <p:ext uri="{BB962C8B-B14F-4D97-AF65-F5344CB8AC3E}">
        <p14:creationId xmlns:p14="http://schemas.microsoft.com/office/powerpoint/2010/main" val="2587192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1D5030-91A3-437D-AABB-1C447A13AF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7ED6D2-A59A-45A4-B91C-8176DD29BB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07D236-D777-40B7-A579-C57A01CE7F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D7B1B3-773E-4F3A-B55D-7ED89E724252}" type="datetimeFigureOut">
              <a:rPr lang="en-US" smtClean="0"/>
              <a:t>3/25/2020</a:t>
            </a:fld>
            <a:endParaRPr lang="en-US"/>
          </a:p>
        </p:txBody>
      </p:sp>
      <p:sp>
        <p:nvSpPr>
          <p:cNvPr id="5" name="Footer Placeholder 4">
            <a:extLst>
              <a:ext uri="{FF2B5EF4-FFF2-40B4-BE49-F238E27FC236}">
                <a16:creationId xmlns:a16="http://schemas.microsoft.com/office/drawing/2014/main" id="{C6C7D091-E503-4086-88D2-A3CDA57005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A67C3A-C19B-4F36-B0F0-D44B7354E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C2EAB4-8F35-4879-9DEE-D953136547CE}" type="slidenum">
              <a:rPr lang="en-US" smtClean="0"/>
              <a:t>‹#›</a:t>
            </a:fld>
            <a:endParaRPr lang="en-US"/>
          </a:p>
        </p:txBody>
      </p:sp>
    </p:spTree>
    <p:extLst>
      <p:ext uri="{BB962C8B-B14F-4D97-AF65-F5344CB8AC3E}">
        <p14:creationId xmlns:p14="http://schemas.microsoft.com/office/powerpoint/2010/main" val="416185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openml.org/d/40536"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picture containing refrigerator, indoor, kitchen, looking&#10;&#10;Description automatically generated">
            <a:extLst>
              <a:ext uri="{FF2B5EF4-FFF2-40B4-BE49-F238E27FC236}">
                <a16:creationId xmlns:a16="http://schemas.microsoft.com/office/drawing/2014/main" id="{D2C8ACDB-F534-40F6-B684-0A829A18788D}"/>
              </a:ext>
            </a:extLst>
          </p:cNvPr>
          <p:cNvPicPr>
            <a:picLocks noChangeAspect="1"/>
          </p:cNvPicPr>
          <p:nvPr/>
        </p:nvPicPr>
        <p:blipFill>
          <a:blip r:embed="rId2">
            <a:extLst>
              <a:ext uri="{28A0092B-C50C-407E-A947-70E740481C1C}">
                <a14:useLocalDpi xmlns:a14="http://schemas.microsoft.com/office/drawing/2010/main" val="0"/>
              </a:ext>
            </a:extLst>
          </a:blip>
          <a:srcRect r="7936"/>
          <a:stretch>
            <a:fillRect/>
          </a:stretch>
        </p:blipFill>
        <p:spPr>
          <a:xfrm>
            <a:off x="1" y="9939"/>
            <a:ext cx="9470651" cy="6858000"/>
          </a:xfrm>
          <a:custGeom>
            <a:avLst/>
            <a:gdLst>
              <a:gd name="connsiteX0" fmla="*/ 0 w 9470651"/>
              <a:gd name="connsiteY0" fmla="*/ 0 h 6858000"/>
              <a:gd name="connsiteX1" fmla="*/ 9470651 w 9470651"/>
              <a:gd name="connsiteY1" fmla="*/ 0 h 6858000"/>
              <a:gd name="connsiteX2" fmla="*/ 6268278 w 9470651"/>
              <a:gd name="connsiteY2" fmla="*/ 6841434 h 6858000"/>
              <a:gd name="connsiteX3" fmla="*/ 2342233 w 9470651"/>
              <a:gd name="connsiteY3" fmla="*/ 6858000 h 6858000"/>
              <a:gd name="connsiteX4" fmla="*/ 0 w 9470651"/>
              <a:gd name="connsiteY4" fmla="*/ 6858000 h 6858000"/>
              <a:gd name="connsiteX5" fmla="*/ 0 w 9470651"/>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70651" h="6858000">
                <a:moveTo>
                  <a:pt x="0" y="0"/>
                </a:moveTo>
                <a:lnTo>
                  <a:pt x="9470651" y="0"/>
                </a:lnTo>
                <a:lnTo>
                  <a:pt x="6268278" y="6841434"/>
                </a:lnTo>
                <a:lnTo>
                  <a:pt x="2342233" y="6858000"/>
                </a:lnTo>
                <a:lnTo>
                  <a:pt x="0" y="6858000"/>
                </a:lnTo>
                <a:lnTo>
                  <a:pt x="0" y="0"/>
                </a:lnTo>
                <a:close/>
              </a:path>
            </a:pathLst>
          </a:custGeom>
        </p:spPr>
      </p:pic>
      <p:pic>
        <p:nvPicPr>
          <p:cNvPr id="10" name="Picture 9" descr="A picture containing refrigerator, indoor, kitchen, looking&#10;&#10;Description automatically generated">
            <a:extLst>
              <a:ext uri="{FF2B5EF4-FFF2-40B4-BE49-F238E27FC236}">
                <a16:creationId xmlns:a16="http://schemas.microsoft.com/office/drawing/2014/main" id="{E8A749D3-FA65-4BCE-9F55-D784BB494AFE}"/>
              </a:ext>
            </a:extLst>
          </p:cNvPr>
          <p:cNvPicPr>
            <a:picLocks noChangeAspect="1"/>
          </p:cNvPicPr>
          <p:nvPr/>
        </p:nvPicPr>
        <p:blipFill>
          <a:blip r:embed="rId2">
            <a:extLst>
              <a:ext uri="{28A0092B-C50C-407E-A947-70E740481C1C}">
                <a14:useLocalDpi xmlns:a14="http://schemas.microsoft.com/office/drawing/2010/main" val="0"/>
              </a:ext>
            </a:extLst>
          </a:blip>
          <a:srcRect l="-129" t="-145" r="7891" b="-145"/>
          <a:stretch>
            <a:fillRect/>
          </a:stretch>
        </p:blipFill>
        <p:spPr>
          <a:xfrm>
            <a:off x="-13252" y="-1"/>
            <a:ext cx="9488556" cy="6877879"/>
          </a:xfrm>
          <a:custGeom>
            <a:avLst/>
            <a:gdLst>
              <a:gd name="connsiteX0" fmla="*/ 0 w 9488556"/>
              <a:gd name="connsiteY0" fmla="*/ 0 h 6877879"/>
              <a:gd name="connsiteX1" fmla="*/ 9488556 w 9488556"/>
              <a:gd name="connsiteY1" fmla="*/ 0 h 6877879"/>
              <a:gd name="connsiteX2" fmla="*/ 9483903 w 9488556"/>
              <a:gd name="connsiteY2" fmla="*/ 9940 h 6877879"/>
              <a:gd name="connsiteX3" fmla="*/ 13252 w 9488556"/>
              <a:gd name="connsiteY3" fmla="*/ 9940 h 6877879"/>
              <a:gd name="connsiteX4" fmla="*/ 13252 w 9488556"/>
              <a:gd name="connsiteY4" fmla="*/ 6867940 h 6877879"/>
              <a:gd name="connsiteX5" fmla="*/ 2355485 w 9488556"/>
              <a:gd name="connsiteY5" fmla="*/ 6867940 h 6877879"/>
              <a:gd name="connsiteX6" fmla="*/ 0 w 9488556"/>
              <a:gd name="connsiteY6" fmla="*/ 6877879 h 6877879"/>
              <a:gd name="connsiteX7" fmla="*/ 0 w 9488556"/>
              <a:gd name="connsiteY7" fmla="*/ 0 h 687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88556" h="6877879">
                <a:moveTo>
                  <a:pt x="0" y="0"/>
                </a:moveTo>
                <a:lnTo>
                  <a:pt x="9488556" y="0"/>
                </a:lnTo>
                <a:lnTo>
                  <a:pt x="9483903" y="9940"/>
                </a:lnTo>
                <a:lnTo>
                  <a:pt x="13252" y="9940"/>
                </a:lnTo>
                <a:lnTo>
                  <a:pt x="13252" y="6867940"/>
                </a:lnTo>
                <a:lnTo>
                  <a:pt x="2355485" y="6867940"/>
                </a:lnTo>
                <a:lnTo>
                  <a:pt x="0" y="6877879"/>
                </a:lnTo>
                <a:lnTo>
                  <a:pt x="0" y="0"/>
                </a:lnTo>
                <a:close/>
              </a:path>
            </a:pathLst>
          </a:custGeom>
        </p:spPr>
      </p:pic>
      <p:sp>
        <p:nvSpPr>
          <p:cNvPr id="12" name="Parallelogram 10">
            <a:extLst>
              <a:ext uri="{FF2B5EF4-FFF2-40B4-BE49-F238E27FC236}">
                <a16:creationId xmlns:a16="http://schemas.microsoft.com/office/drawing/2014/main" id="{BFE9ADA1-89DE-4807-8F9B-D130D61C064A}"/>
              </a:ext>
            </a:extLst>
          </p:cNvPr>
          <p:cNvSpPr/>
          <p:nvPr/>
        </p:nvSpPr>
        <p:spPr>
          <a:xfrm>
            <a:off x="5955125" y="2389429"/>
            <a:ext cx="2573722" cy="4594695"/>
          </a:xfrm>
          <a:custGeom>
            <a:avLst/>
            <a:gdLst>
              <a:gd name="connsiteX0" fmla="*/ 0 w 2849217"/>
              <a:gd name="connsiteY0" fmla="*/ 4326835 h 4326835"/>
              <a:gd name="connsiteX1" fmla="*/ 712304 w 2849217"/>
              <a:gd name="connsiteY1" fmla="*/ 0 h 4326835"/>
              <a:gd name="connsiteX2" fmla="*/ 2849217 w 2849217"/>
              <a:gd name="connsiteY2" fmla="*/ 0 h 4326835"/>
              <a:gd name="connsiteX3" fmla="*/ 2136913 w 2849217"/>
              <a:gd name="connsiteY3" fmla="*/ 4326835 h 4326835"/>
              <a:gd name="connsiteX4" fmla="*/ 0 w 2849217"/>
              <a:gd name="connsiteY4" fmla="*/ 4326835 h 4326835"/>
              <a:gd name="connsiteX0" fmla="*/ 0 w 2849217"/>
              <a:gd name="connsiteY0" fmla="*/ 4326835 h 4326835"/>
              <a:gd name="connsiteX1" fmla="*/ 712304 w 2849217"/>
              <a:gd name="connsiteY1" fmla="*/ 0 h 4326835"/>
              <a:gd name="connsiteX2" fmla="*/ 2849217 w 2849217"/>
              <a:gd name="connsiteY2" fmla="*/ 0 h 4326835"/>
              <a:gd name="connsiteX3" fmla="*/ 2136913 w 2849217"/>
              <a:gd name="connsiteY3" fmla="*/ 4326835 h 4326835"/>
              <a:gd name="connsiteX4" fmla="*/ 0 w 2849217"/>
              <a:gd name="connsiteY4" fmla="*/ 4326835 h 4326835"/>
              <a:gd name="connsiteX0" fmla="*/ 0 w 2849217"/>
              <a:gd name="connsiteY0" fmla="*/ 4326835 h 4326835"/>
              <a:gd name="connsiteX1" fmla="*/ 2315817 w 2849217"/>
              <a:gd name="connsiteY1" fmla="*/ 26505 h 4326835"/>
              <a:gd name="connsiteX2" fmla="*/ 2849217 w 2849217"/>
              <a:gd name="connsiteY2" fmla="*/ 0 h 4326835"/>
              <a:gd name="connsiteX3" fmla="*/ 2136913 w 2849217"/>
              <a:gd name="connsiteY3" fmla="*/ 4326835 h 4326835"/>
              <a:gd name="connsiteX4" fmla="*/ 0 w 2849217"/>
              <a:gd name="connsiteY4" fmla="*/ 4326835 h 4326835"/>
              <a:gd name="connsiteX0" fmla="*/ 0 w 2849217"/>
              <a:gd name="connsiteY0" fmla="*/ 4326835 h 4326835"/>
              <a:gd name="connsiteX1" fmla="*/ 2315817 w 2849217"/>
              <a:gd name="connsiteY1" fmla="*/ 26505 h 4326835"/>
              <a:gd name="connsiteX2" fmla="*/ 2849217 w 2849217"/>
              <a:gd name="connsiteY2" fmla="*/ 0 h 4326835"/>
              <a:gd name="connsiteX3" fmla="*/ 877957 w 2849217"/>
              <a:gd name="connsiteY3" fmla="*/ 4287078 h 4326835"/>
              <a:gd name="connsiteX4" fmla="*/ 0 w 2849217"/>
              <a:gd name="connsiteY4" fmla="*/ 4326835 h 4326835"/>
              <a:gd name="connsiteX0" fmla="*/ 0 w 2849217"/>
              <a:gd name="connsiteY0" fmla="*/ 4326835 h 4340087"/>
              <a:gd name="connsiteX1" fmla="*/ 2315817 w 2849217"/>
              <a:gd name="connsiteY1" fmla="*/ 26505 h 4340087"/>
              <a:gd name="connsiteX2" fmla="*/ 2849217 w 2849217"/>
              <a:gd name="connsiteY2" fmla="*/ 0 h 4340087"/>
              <a:gd name="connsiteX3" fmla="*/ 559905 w 2849217"/>
              <a:gd name="connsiteY3" fmla="*/ 4340087 h 4340087"/>
              <a:gd name="connsiteX4" fmla="*/ 0 w 2849217"/>
              <a:gd name="connsiteY4" fmla="*/ 4326835 h 4340087"/>
              <a:gd name="connsiteX0" fmla="*/ 0 w 2703443"/>
              <a:gd name="connsiteY0" fmla="*/ 4459357 h 4472609"/>
              <a:gd name="connsiteX1" fmla="*/ 2315817 w 2703443"/>
              <a:gd name="connsiteY1" fmla="*/ 159027 h 4472609"/>
              <a:gd name="connsiteX2" fmla="*/ 2703443 w 2703443"/>
              <a:gd name="connsiteY2" fmla="*/ 0 h 4472609"/>
              <a:gd name="connsiteX3" fmla="*/ 559905 w 2703443"/>
              <a:gd name="connsiteY3" fmla="*/ 4472609 h 4472609"/>
              <a:gd name="connsiteX4" fmla="*/ 0 w 2703443"/>
              <a:gd name="connsiteY4" fmla="*/ 4459357 h 4472609"/>
              <a:gd name="connsiteX0" fmla="*/ 0 w 2703443"/>
              <a:gd name="connsiteY0" fmla="*/ 4459357 h 4472609"/>
              <a:gd name="connsiteX1" fmla="*/ 2183295 w 2703443"/>
              <a:gd name="connsiteY1" fmla="*/ 53010 h 4472609"/>
              <a:gd name="connsiteX2" fmla="*/ 2703443 w 2703443"/>
              <a:gd name="connsiteY2" fmla="*/ 0 h 4472609"/>
              <a:gd name="connsiteX3" fmla="*/ 559905 w 2703443"/>
              <a:gd name="connsiteY3" fmla="*/ 4472609 h 4472609"/>
              <a:gd name="connsiteX4" fmla="*/ 0 w 2703443"/>
              <a:gd name="connsiteY4" fmla="*/ 4459357 h 4472609"/>
              <a:gd name="connsiteX0" fmla="*/ 0 w 2703443"/>
              <a:gd name="connsiteY0" fmla="*/ 4472608 h 4485860"/>
              <a:gd name="connsiteX1" fmla="*/ 2209799 w 2703443"/>
              <a:gd name="connsiteY1" fmla="*/ 0 h 4485860"/>
              <a:gd name="connsiteX2" fmla="*/ 2703443 w 2703443"/>
              <a:gd name="connsiteY2" fmla="*/ 13251 h 4485860"/>
              <a:gd name="connsiteX3" fmla="*/ 559905 w 2703443"/>
              <a:gd name="connsiteY3" fmla="*/ 4485860 h 4485860"/>
              <a:gd name="connsiteX4" fmla="*/ 0 w 2703443"/>
              <a:gd name="connsiteY4" fmla="*/ 4472608 h 4485860"/>
              <a:gd name="connsiteX0" fmla="*/ 0 w 2665343"/>
              <a:gd name="connsiteY0" fmla="*/ 4478407 h 4491659"/>
              <a:gd name="connsiteX1" fmla="*/ 2209799 w 2665343"/>
              <a:gd name="connsiteY1" fmla="*/ 5799 h 4491659"/>
              <a:gd name="connsiteX2" fmla="*/ 2665343 w 2665343"/>
              <a:gd name="connsiteY2" fmla="*/ 0 h 4491659"/>
              <a:gd name="connsiteX3" fmla="*/ 559905 w 2665343"/>
              <a:gd name="connsiteY3" fmla="*/ 4491659 h 4491659"/>
              <a:gd name="connsiteX4" fmla="*/ 0 w 2665343"/>
              <a:gd name="connsiteY4" fmla="*/ 4478407 h 4491659"/>
              <a:gd name="connsiteX0" fmla="*/ 0 w 2646293"/>
              <a:gd name="connsiteY0" fmla="*/ 4483169 h 4496421"/>
              <a:gd name="connsiteX1" fmla="*/ 2209799 w 2646293"/>
              <a:gd name="connsiteY1" fmla="*/ 10561 h 4496421"/>
              <a:gd name="connsiteX2" fmla="*/ 2646293 w 2646293"/>
              <a:gd name="connsiteY2" fmla="*/ 0 h 4496421"/>
              <a:gd name="connsiteX3" fmla="*/ 559905 w 2646293"/>
              <a:gd name="connsiteY3" fmla="*/ 4496421 h 4496421"/>
              <a:gd name="connsiteX4" fmla="*/ 0 w 2646293"/>
              <a:gd name="connsiteY4" fmla="*/ 4483169 h 4496421"/>
              <a:gd name="connsiteX0" fmla="*/ 0 w 2573722"/>
              <a:gd name="connsiteY0" fmla="*/ 4483169 h 4496421"/>
              <a:gd name="connsiteX1" fmla="*/ 2137228 w 2573722"/>
              <a:gd name="connsiteY1" fmla="*/ 10561 h 4496421"/>
              <a:gd name="connsiteX2" fmla="*/ 2573722 w 2573722"/>
              <a:gd name="connsiteY2" fmla="*/ 0 h 4496421"/>
              <a:gd name="connsiteX3" fmla="*/ 487334 w 2573722"/>
              <a:gd name="connsiteY3" fmla="*/ 4496421 h 4496421"/>
              <a:gd name="connsiteX4" fmla="*/ 0 w 2573722"/>
              <a:gd name="connsiteY4" fmla="*/ 4483169 h 4496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3722" h="4496421">
                <a:moveTo>
                  <a:pt x="0" y="4483169"/>
                </a:moveTo>
                <a:lnTo>
                  <a:pt x="2137228" y="10561"/>
                </a:lnTo>
                <a:lnTo>
                  <a:pt x="2573722" y="0"/>
                </a:lnTo>
                <a:lnTo>
                  <a:pt x="487334" y="4496421"/>
                </a:lnTo>
                <a:lnTo>
                  <a:pt x="0" y="4483169"/>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Parallelogram 12">
            <a:extLst>
              <a:ext uri="{FF2B5EF4-FFF2-40B4-BE49-F238E27FC236}">
                <a16:creationId xmlns:a16="http://schemas.microsoft.com/office/drawing/2014/main" id="{5EBF07A0-54C6-4639-A99F-0E4D4082DE12}"/>
              </a:ext>
            </a:extLst>
          </p:cNvPr>
          <p:cNvSpPr/>
          <p:nvPr/>
        </p:nvSpPr>
        <p:spPr>
          <a:xfrm>
            <a:off x="8368105" y="-1"/>
            <a:ext cx="1511782" cy="2389430"/>
          </a:xfrm>
          <a:custGeom>
            <a:avLst/>
            <a:gdLst>
              <a:gd name="connsiteX0" fmla="*/ 0 w 1018761"/>
              <a:gd name="connsiteY0" fmla="*/ 2358887 h 2358887"/>
              <a:gd name="connsiteX1" fmla="*/ 254690 w 1018761"/>
              <a:gd name="connsiteY1" fmla="*/ 0 h 2358887"/>
              <a:gd name="connsiteX2" fmla="*/ 1018761 w 1018761"/>
              <a:gd name="connsiteY2" fmla="*/ 0 h 2358887"/>
              <a:gd name="connsiteX3" fmla="*/ 764071 w 1018761"/>
              <a:gd name="connsiteY3" fmla="*/ 2358887 h 2358887"/>
              <a:gd name="connsiteX4" fmla="*/ 0 w 1018761"/>
              <a:gd name="connsiteY4" fmla="*/ 2358887 h 2358887"/>
              <a:gd name="connsiteX0" fmla="*/ 0 w 1893405"/>
              <a:gd name="connsiteY0" fmla="*/ 2385392 h 2385392"/>
              <a:gd name="connsiteX1" fmla="*/ 1129334 w 1893405"/>
              <a:gd name="connsiteY1" fmla="*/ 0 h 2385392"/>
              <a:gd name="connsiteX2" fmla="*/ 1893405 w 1893405"/>
              <a:gd name="connsiteY2" fmla="*/ 0 h 2385392"/>
              <a:gd name="connsiteX3" fmla="*/ 1638715 w 1893405"/>
              <a:gd name="connsiteY3" fmla="*/ 2358887 h 2385392"/>
              <a:gd name="connsiteX4" fmla="*/ 0 w 1893405"/>
              <a:gd name="connsiteY4" fmla="*/ 2385392 h 2385392"/>
              <a:gd name="connsiteX0" fmla="*/ 0 w 1893405"/>
              <a:gd name="connsiteY0" fmla="*/ 2385392 h 2385392"/>
              <a:gd name="connsiteX1" fmla="*/ 1129334 w 1893405"/>
              <a:gd name="connsiteY1" fmla="*/ 0 h 2385392"/>
              <a:gd name="connsiteX2" fmla="*/ 1893405 w 1893405"/>
              <a:gd name="connsiteY2" fmla="*/ 0 h 2385392"/>
              <a:gd name="connsiteX3" fmla="*/ 525532 w 1893405"/>
              <a:gd name="connsiteY3" fmla="*/ 2372140 h 2385392"/>
              <a:gd name="connsiteX4" fmla="*/ 0 w 1893405"/>
              <a:gd name="connsiteY4" fmla="*/ 2385392 h 2385392"/>
              <a:gd name="connsiteX0" fmla="*/ 0 w 1893405"/>
              <a:gd name="connsiteY0" fmla="*/ 2385392 h 2385392"/>
              <a:gd name="connsiteX1" fmla="*/ 1129334 w 1893405"/>
              <a:gd name="connsiteY1" fmla="*/ 0 h 2385392"/>
              <a:gd name="connsiteX2" fmla="*/ 1893405 w 1893405"/>
              <a:gd name="connsiteY2" fmla="*/ 0 h 2385392"/>
              <a:gd name="connsiteX3" fmla="*/ 419515 w 1893405"/>
              <a:gd name="connsiteY3" fmla="*/ 2332383 h 2385392"/>
              <a:gd name="connsiteX4" fmla="*/ 0 w 1893405"/>
              <a:gd name="connsiteY4" fmla="*/ 2385392 h 2385392"/>
              <a:gd name="connsiteX0" fmla="*/ 0 w 1893405"/>
              <a:gd name="connsiteY0" fmla="*/ 2385392 h 2385392"/>
              <a:gd name="connsiteX1" fmla="*/ 1129334 w 1893405"/>
              <a:gd name="connsiteY1" fmla="*/ 0 h 2385392"/>
              <a:gd name="connsiteX2" fmla="*/ 1893405 w 1893405"/>
              <a:gd name="connsiteY2" fmla="*/ 0 h 2385392"/>
              <a:gd name="connsiteX3" fmla="*/ 432767 w 1893405"/>
              <a:gd name="connsiteY3" fmla="*/ 2385392 h 2385392"/>
              <a:gd name="connsiteX4" fmla="*/ 0 w 1893405"/>
              <a:gd name="connsiteY4" fmla="*/ 2385392 h 2385392"/>
              <a:gd name="connsiteX0" fmla="*/ 0 w 1522344"/>
              <a:gd name="connsiteY0" fmla="*/ 2385392 h 2385392"/>
              <a:gd name="connsiteX1" fmla="*/ 1129334 w 1522344"/>
              <a:gd name="connsiteY1" fmla="*/ 0 h 2385392"/>
              <a:gd name="connsiteX2" fmla="*/ 1522344 w 1522344"/>
              <a:gd name="connsiteY2" fmla="*/ 0 h 2385392"/>
              <a:gd name="connsiteX3" fmla="*/ 432767 w 1522344"/>
              <a:gd name="connsiteY3" fmla="*/ 2385392 h 2385392"/>
              <a:gd name="connsiteX4" fmla="*/ 0 w 1522344"/>
              <a:gd name="connsiteY4" fmla="*/ 2385392 h 2385392"/>
              <a:gd name="connsiteX0" fmla="*/ 0 w 1522344"/>
              <a:gd name="connsiteY0" fmla="*/ 2433017 h 2433017"/>
              <a:gd name="connsiteX1" fmla="*/ 1084485 w 1522344"/>
              <a:gd name="connsiteY1" fmla="*/ 0 h 2433017"/>
              <a:gd name="connsiteX2" fmla="*/ 1522344 w 1522344"/>
              <a:gd name="connsiteY2" fmla="*/ 47625 h 2433017"/>
              <a:gd name="connsiteX3" fmla="*/ 432767 w 1522344"/>
              <a:gd name="connsiteY3" fmla="*/ 2433017 h 2433017"/>
              <a:gd name="connsiteX4" fmla="*/ 0 w 1522344"/>
              <a:gd name="connsiteY4" fmla="*/ 2433017 h 2433017"/>
              <a:gd name="connsiteX0" fmla="*/ 0 w 1522344"/>
              <a:gd name="connsiteY0" fmla="*/ 2480642 h 2480642"/>
              <a:gd name="connsiteX1" fmla="*/ 1084485 w 1522344"/>
              <a:gd name="connsiteY1" fmla="*/ 0 h 2480642"/>
              <a:gd name="connsiteX2" fmla="*/ 1522344 w 1522344"/>
              <a:gd name="connsiteY2" fmla="*/ 95250 h 2480642"/>
              <a:gd name="connsiteX3" fmla="*/ 432767 w 1522344"/>
              <a:gd name="connsiteY3" fmla="*/ 2480642 h 2480642"/>
              <a:gd name="connsiteX4" fmla="*/ 0 w 1522344"/>
              <a:gd name="connsiteY4" fmla="*/ 2480642 h 2480642"/>
              <a:gd name="connsiteX0" fmla="*/ 0 w 1423675"/>
              <a:gd name="connsiteY0" fmla="*/ 2480642 h 2480642"/>
              <a:gd name="connsiteX1" fmla="*/ 1084485 w 1423675"/>
              <a:gd name="connsiteY1" fmla="*/ 0 h 2480642"/>
              <a:gd name="connsiteX2" fmla="*/ 1423675 w 1423675"/>
              <a:gd name="connsiteY2" fmla="*/ 95250 h 2480642"/>
              <a:gd name="connsiteX3" fmla="*/ 432767 w 1423675"/>
              <a:gd name="connsiteY3" fmla="*/ 2480642 h 2480642"/>
              <a:gd name="connsiteX4" fmla="*/ 0 w 1423675"/>
              <a:gd name="connsiteY4" fmla="*/ 2480642 h 2480642"/>
              <a:gd name="connsiteX0" fmla="*/ 0 w 1423675"/>
              <a:gd name="connsiteY0" fmla="*/ 2480642 h 2480642"/>
              <a:gd name="connsiteX1" fmla="*/ 1084485 w 1423675"/>
              <a:gd name="connsiteY1" fmla="*/ 0 h 2480642"/>
              <a:gd name="connsiteX2" fmla="*/ 1423675 w 1423675"/>
              <a:gd name="connsiteY2" fmla="*/ 95250 h 2480642"/>
              <a:gd name="connsiteX3" fmla="*/ 432767 w 1423675"/>
              <a:gd name="connsiteY3" fmla="*/ 2480642 h 2480642"/>
              <a:gd name="connsiteX4" fmla="*/ 0 w 1423675"/>
              <a:gd name="connsiteY4" fmla="*/ 2480642 h 2480642"/>
              <a:gd name="connsiteX0" fmla="*/ 0 w 1423675"/>
              <a:gd name="connsiteY0" fmla="*/ 2385392 h 2385392"/>
              <a:gd name="connsiteX1" fmla="*/ 1030666 w 1423675"/>
              <a:gd name="connsiteY1" fmla="*/ 9525 h 2385392"/>
              <a:gd name="connsiteX2" fmla="*/ 1423675 w 1423675"/>
              <a:gd name="connsiteY2" fmla="*/ 0 h 2385392"/>
              <a:gd name="connsiteX3" fmla="*/ 432767 w 1423675"/>
              <a:gd name="connsiteY3" fmla="*/ 2385392 h 2385392"/>
              <a:gd name="connsiteX4" fmla="*/ 0 w 1423675"/>
              <a:gd name="connsiteY4" fmla="*/ 2385392 h 2385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675" h="2385392">
                <a:moveTo>
                  <a:pt x="0" y="2385392"/>
                </a:moveTo>
                <a:lnTo>
                  <a:pt x="1030666" y="9525"/>
                </a:lnTo>
                <a:lnTo>
                  <a:pt x="1423675" y="0"/>
                </a:lnTo>
                <a:lnTo>
                  <a:pt x="432767" y="2385392"/>
                </a:lnTo>
                <a:lnTo>
                  <a:pt x="0" y="2385392"/>
                </a:lnTo>
                <a:close/>
              </a:path>
            </a:pathLst>
          </a:cu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955F69F5-79C5-4EAD-95E3-C2774B307E8D}"/>
              </a:ext>
            </a:extLst>
          </p:cNvPr>
          <p:cNvSpPr txBox="1"/>
          <p:nvPr/>
        </p:nvSpPr>
        <p:spPr>
          <a:xfrm>
            <a:off x="9104308" y="2984148"/>
            <a:ext cx="2533065" cy="1076320"/>
          </a:xfrm>
          <a:prstGeom prst="rect">
            <a:avLst/>
          </a:prstGeom>
          <a:noFill/>
        </p:spPr>
        <p:txBody>
          <a:bodyPr wrap="none" rtlCol="0">
            <a:spAutoFit/>
          </a:bodyPr>
          <a:lstStyle/>
          <a:p>
            <a:pPr algn="ctr">
              <a:lnSpc>
                <a:spcPts val="4000"/>
              </a:lnSpc>
            </a:pPr>
            <a:r>
              <a:rPr lang="en-US" altLang="zh-TW" sz="2800" b="1" u="sng" dirty="0">
                <a:solidFill>
                  <a:schemeClr val="tx1">
                    <a:lumMod val="75000"/>
                    <a:lumOff val="25000"/>
                  </a:schemeClr>
                </a:solidFill>
                <a:latin typeface="Microsoft JhengHei UI" panose="020B0604030504040204" pitchFamily="34" charset="-120"/>
                <a:ea typeface="Microsoft JhengHei UI" panose="020B0604030504040204" pitchFamily="34" charset="-120"/>
              </a:rPr>
              <a:t>Speed Dating</a:t>
            </a:r>
          </a:p>
          <a:p>
            <a:pPr algn="ctr">
              <a:lnSpc>
                <a:spcPts val="4000"/>
              </a:lnSpc>
            </a:pPr>
            <a:r>
              <a:rPr lang="zh-TW" altLang="en-US" sz="2800" b="1" u="sng" dirty="0">
                <a:solidFill>
                  <a:schemeClr val="tx1">
                    <a:lumMod val="75000"/>
                    <a:lumOff val="25000"/>
                  </a:schemeClr>
                </a:solidFill>
                <a:latin typeface="Microsoft JhengHei UI" panose="020B0604030504040204" pitchFamily="34" charset="-120"/>
                <a:ea typeface="Microsoft JhengHei UI" panose="020B0604030504040204" pitchFamily="34" charset="-120"/>
              </a:rPr>
              <a:t>資料集分析</a:t>
            </a:r>
            <a:endParaRPr lang="en-US" sz="2800" b="1" u="sng" dirty="0">
              <a:solidFill>
                <a:schemeClr val="tx1">
                  <a:lumMod val="75000"/>
                  <a:lumOff val="25000"/>
                </a:schemeClr>
              </a:solidFill>
              <a:latin typeface="Microsoft JhengHei UI" panose="020B0604030504040204" pitchFamily="34" charset="-120"/>
              <a:ea typeface="Microsoft JhengHei UI" panose="020B0604030504040204" pitchFamily="34" charset="-120"/>
            </a:endParaRPr>
          </a:p>
        </p:txBody>
      </p:sp>
      <p:sp>
        <p:nvSpPr>
          <p:cNvPr id="15" name="TextBox 14">
            <a:extLst>
              <a:ext uri="{FF2B5EF4-FFF2-40B4-BE49-F238E27FC236}">
                <a16:creationId xmlns:a16="http://schemas.microsoft.com/office/drawing/2014/main" id="{0973D0E9-5476-4DE3-9C64-769B9F2C2360}"/>
              </a:ext>
            </a:extLst>
          </p:cNvPr>
          <p:cNvSpPr txBox="1"/>
          <p:nvPr/>
        </p:nvSpPr>
        <p:spPr>
          <a:xfrm>
            <a:off x="10233284" y="4146870"/>
            <a:ext cx="360996" cy="523220"/>
          </a:xfrm>
          <a:prstGeom prst="rect">
            <a:avLst/>
          </a:prstGeom>
          <a:noFill/>
        </p:spPr>
        <p:txBody>
          <a:bodyPr wrap="none" rtlCol="0">
            <a:spAutoFit/>
          </a:bodyPr>
          <a:lstStyle/>
          <a:p>
            <a:r>
              <a:rPr lang="en-US" sz="2800" dirty="0">
                <a:solidFill>
                  <a:schemeClr val="tx1">
                    <a:lumMod val="75000"/>
                    <a:lumOff val="25000"/>
                  </a:schemeClr>
                </a:solidFill>
                <a:latin typeface="Microsoft JhengHei UI" panose="020B0604030504040204" pitchFamily="34" charset="-120"/>
                <a:ea typeface="Microsoft JhengHei UI" panose="020B0604030504040204" pitchFamily="34" charset="-120"/>
              </a:rPr>
              <a:t>x</a:t>
            </a:r>
          </a:p>
        </p:txBody>
      </p:sp>
      <p:sp>
        <p:nvSpPr>
          <p:cNvPr id="16" name="TextBox 15">
            <a:extLst>
              <a:ext uri="{FF2B5EF4-FFF2-40B4-BE49-F238E27FC236}">
                <a16:creationId xmlns:a16="http://schemas.microsoft.com/office/drawing/2014/main" id="{369A64CF-5288-4EDA-8EE0-851ECE9B24F6}"/>
              </a:ext>
            </a:extLst>
          </p:cNvPr>
          <p:cNvSpPr txBox="1"/>
          <p:nvPr/>
        </p:nvSpPr>
        <p:spPr>
          <a:xfrm>
            <a:off x="9811895" y="4811270"/>
            <a:ext cx="1107996" cy="461665"/>
          </a:xfrm>
          <a:prstGeom prst="rect">
            <a:avLst/>
          </a:prstGeom>
          <a:noFill/>
        </p:spPr>
        <p:txBody>
          <a:bodyPr wrap="none" rtlCol="0">
            <a:spAutoFit/>
          </a:bodyPr>
          <a:lstStyle/>
          <a:p>
            <a:r>
              <a:rPr lang="zh-TW" altLang="en-US" sz="2400" b="1" dirty="0">
                <a:solidFill>
                  <a:schemeClr val="tx1">
                    <a:lumMod val="75000"/>
                    <a:lumOff val="25000"/>
                  </a:schemeClr>
                </a:solidFill>
                <a:latin typeface="Microsoft JhengHei UI" panose="020B0604030504040204" pitchFamily="34" charset="-120"/>
                <a:ea typeface="Microsoft JhengHei UI" panose="020B0604030504040204" pitchFamily="34" charset="-120"/>
              </a:rPr>
              <a:t>余宛儒</a:t>
            </a:r>
            <a:endParaRPr lang="en-US" sz="2400" b="1" dirty="0">
              <a:solidFill>
                <a:schemeClr val="tx1">
                  <a:lumMod val="75000"/>
                  <a:lumOff val="25000"/>
                </a:schemeClr>
              </a:solidFill>
              <a:latin typeface="Microsoft JhengHei UI" panose="020B0604030504040204" pitchFamily="34" charset="-120"/>
              <a:ea typeface="Microsoft JhengHei UI" panose="020B0604030504040204" pitchFamily="34" charset="-120"/>
            </a:endParaRPr>
          </a:p>
        </p:txBody>
      </p:sp>
      <p:pic>
        <p:nvPicPr>
          <p:cNvPr id="17" name="Picture 2" descr="「國泰金控logo」的圖片搜尋結果">
            <a:extLst>
              <a:ext uri="{FF2B5EF4-FFF2-40B4-BE49-F238E27FC236}">
                <a16:creationId xmlns:a16="http://schemas.microsoft.com/office/drawing/2014/main" id="{92377683-B2B9-43B0-8582-CC9731E1BC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3996" y="5827144"/>
            <a:ext cx="2713378" cy="752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999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19800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資料集選擇</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9" name="TextBox 8">
            <a:extLst>
              <a:ext uri="{FF2B5EF4-FFF2-40B4-BE49-F238E27FC236}">
                <a16:creationId xmlns:a16="http://schemas.microsoft.com/office/drawing/2014/main" id="{3BDF5C2B-D5D9-414D-B81A-BF8FCCAA45BD}"/>
              </a:ext>
            </a:extLst>
          </p:cNvPr>
          <p:cNvSpPr txBox="1"/>
          <p:nvPr/>
        </p:nvSpPr>
        <p:spPr>
          <a:xfrm>
            <a:off x="556592" y="1245891"/>
            <a:ext cx="5777946" cy="1728550"/>
          </a:xfrm>
          <a:prstGeom prst="rect">
            <a:avLst/>
          </a:prstGeom>
          <a:noFill/>
        </p:spPr>
        <p:txBody>
          <a:bodyPr wrap="square" rtlCol="0">
            <a:spAutoFit/>
          </a:bodyPr>
          <a:lstStyle/>
          <a:p>
            <a:pPr>
              <a:lnSpc>
                <a:spcPct val="150000"/>
              </a:lnSpc>
              <a:spcBef>
                <a:spcPts val="1200"/>
              </a:spcBef>
            </a:pPr>
            <a:r>
              <a:rPr lang="zh-TW" altLang="en-US" sz="2000" b="1" dirty="0">
                <a:latin typeface="Microsoft JhengHei" panose="020B0604030504040204" pitchFamily="34" charset="-120"/>
                <a:ea typeface="Microsoft JhengHei" panose="020B0604030504040204" pitchFamily="34" charset="-120"/>
              </a:rPr>
              <a:t>資料來源：</a:t>
            </a:r>
            <a:r>
              <a:rPr lang="en-US" sz="2000" b="1" dirty="0" err="1">
                <a:latin typeface="Microsoft JhengHei" panose="020B0604030504040204" pitchFamily="34" charset="-120"/>
                <a:ea typeface="Microsoft JhengHei" panose="020B0604030504040204" pitchFamily="34" charset="-120"/>
                <a:hlinkClick r:id="rId3"/>
              </a:rPr>
              <a:t>OpenML</a:t>
            </a:r>
            <a:r>
              <a:rPr lang="zh-TW" altLang="en-US" sz="2000" b="1" dirty="0">
                <a:latin typeface="Microsoft JhengHei" panose="020B0604030504040204" pitchFamily="34" charset="-120"/>
                <a:ea typeface="Microsoft JhengHei" panose="020B0604030504040204" pitchFamily="34" charset="-120"/>
                <a:hlinkClick r:id="rId3"/>
              </a:rPr>
              <a:t> </a:t>
            </a:r>
            <a:r>
              <a:rPr lang="en-US" sz="2000" b="1" dirty="0" err="1">
                <a:latin typeface="Microsoft JhengHei" panose="020B0604030504040204" pitchFamily="34" charset="-120"/>
                <a:ea typeface="Microsoft JhengHei" panose="020B0604030504040204" pitchFamily="34" charset="-120"/>
                <a:hlinkClick r:id="rId3"/>
              </a:rPr>
              <a:t>SpeedDating</a:t>
            </a:r>
            <a:r>
              <a:rPr lang="zh-TW" altLang="en-US" sz="2000" b="1" dirty="0">
                <a:latin typeface="Microsoft JhengHei" panose="020B0604030504040204" pitchFamily="34" charset="-120"/>
                <a:ea typeface="Microsoft JhengHei" panose="020B0604030504040204" pitchFamily="34" charset="-120"/>
                <a:hlinkClick r:id="rId3"/>
              </a:rPr>
              <a:t> </a:t>
            </a:r>
            <a:r>
              <a:rPr lang="en-US" altLang="zh-TW" sz="2000" b="1" dirty="0">
                <a:latin typeface="Microsoft JhengHei" panose="020B0604030504040204" pitchFamily="34" charset="-120"/>
                <a:ea typeface="Microsoft JhengHei" panose="020B0604030504040204" pitchFamily="34" charset="-120"/>
                <a:hlinkClick r:id="rId3"/>
              </a:rPr>
              <a:t>Dataset</a:t>
            </a:r>
            <a:endParaRPr lang="en-US" sz="2000" b="1" dirty="0">
              <a:latin typeface="Microsoft JhengHei" panose="020B0604030504040204" pitchFamily="34" charset="-120"/>
              <a:ea typeface="Microsoft JhengHei" panose="020B0604030504040204" pitchFamily="34" charset="-120"/>
            </a:endParaRPr>
          </a:p>
          <a:p>
            <a:pPr>
              <a:lnSpc>
                <a:spcPct val="150000"/>
              </a:lnSpc>
              <a:spcBef>
                <a:spcPts val="1200"/>
              </a:spcBef>
            </a:pPr>
            <a:r>
              <a:rPr lang="zh-TW" altLang="en-US" sz="2000" b="1" dirty="0">
                <a:latin typeface="Microsoft JhengHei" panose="020B0604030504040204" pitchFamily="34" charset="-120"/>
                <a:ea typeface="Microsoft JhengHei" panose="020B0604030504040204" pitchFamily="34" charset="-120"/>
              </a:rPr>
              <a:t>資料集內容</a:t>
            </a:r>
            <a:endParaRPr lang="en-US" altLang="zh-TW" sz="2000" b="1" dirty="0">
              <a:latin typeface="Microsoft JhengHei" panose="020B0604030504040204" pitchFamily="34" charset="-120"/>
              <a:ea typeface="Microsoft JhengHei" panose="020B0604030504040204" pitchFamily="34" charset="-120"/>
            </a:endParaRPr>
          </a:p>
          <a:p>
            <a:pPr marL="342900" indent="-342900">
              <a:lnSpc>
                <a:spcPct val="1500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參加者基本資料</a:t>
            </a:r>
            <a:r>
              <a:rPr lang="en-US" altLang="zh-TW" sz="2000" b="1" dirty="0">
                <a:latin typeface="Microsoft JhengHei" panose="020B0604030504040204" pitchFamily="34" charset="-120"/>
                <a:ea typeface="Microsoft JhengHei" panose="020B0604030504040204" pitchFamily="34" charset="-120"/>
              </a:rPr>
              <a:t>(</a:t>
            </a:r>
            <a:r>
              <a:rPr lang="zh-TW" altLang="en-US" sz="2000" b="1" dirty="0">
                <a:latin typeface="Microsoft JhengHei" panose="020B0604030504040204" pitchFamily="34" charset="-120"/>
                <a:ea typeface="Microsoft JhengHei" panose="020B0604030504040204" pitchFamily="34" charset="-120"/>
              </a:rPr>
              <a:t>性別、年齡、種族、興趣嗜好</a:t>
            </a:r>
            <a:r>
              <a:rPr lang="en-US" altLang="zh-TW" sz="2000" b="1" dirty="0">
                <a:latin typeface="Microsoft JhengHei" panose="020B0604030504040204" pitchFamily="34" charset="-120"/>
                <a:ea typeface="Microsoft JhengHei" panose="020B0604030504040204" pitchFamily="34" charset="-120"/>
              </a:rPr>
              <a:t>)</a:t>
            </a:r>
          </a:p>
        </p:txBody>
      </p:sp>
      <p:sp>
        <p:nvSpPr>
          <p:cNvPr id="2" name="TextBox 1">
            <a:extLst>
              <a:ext uri="{FF2B5EF4-FFF2-40B4-BE49-F238E27FC236}">
                <a16:creationId xmlns:a16="http://schemas.microsoft.com/office/drawing/2014/main" id="{FB65F4F1-89E7-48C5-891C-74438040CC10}"/>
              </a:ext>
            </a:extLst>
          </p:cNvPr>
          <p:cNvSpPr txBox="1"/>
          <p:nvPr/>
        </p:nvSpPr>
        <p:spPr>
          <a:xfrm>
            <a:off x="3214834" y="3236813"/>
            <a:ext cx="2288470" cy="369332"/>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對自己個人特質評分</a:t>
            </a:r>
            <a:endParaRPr lang="en-US" dirty="0"/>
          </a:p>
        </p:txBody>
      </p:sp>
      <p:sp>
        <p:nvSpPr>
          <p:cNvPr id="3" name="TextBox 2">
            <a:extLst>
              <a:ext uri="{FF2B5EF4-FFF2-40B4-BE49-F238E27FC236}">
                <a16:creationId xmlns:a16="http://schemas.microsoft.com/office/drawing/2014/main" id="{749EC42C-E593-4BEC-9223-0AB7346F8A39}"/>
              </a:ext>
            </a:extLst>
          </p:cNvPr>
          <p:cNvSpPr txBox="1"/>
          <p:nvPr/>
        </p:nvSpPr>
        <p:spPr>
          <a:xfrm>
            <a:off x="556592" y="3932159"/>
            <a:ext cx="1043876" cy="497444"/>
          </a:xfrm>
          <a:prstGeom prst="rect">
            <a:avLst/>
          </a:prstGeom>
          <a:noFill/>
        </p:spPr>
        <p:txBody>
          <a:bodyPr wrap="none" rtlCol="0">
            <a:spAutoFit/>
          </a:bodyPr>
          <a:lstStyle/>
          <a:p>
            <a:pPr marL="342900" indent="-342900">
              <a:lnSpc>
                <a:spcPct val="1500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分數</a:t>
            </a:r>
            <a:endParaRPr lang="en-US" altLang="zh-TW" sz="2000" b="1" dirty="0">
              <a:latin typeface="Microsoft JhengHei" panose="020B0604030504040204" pitchFamily="34" charset="-120"/>
              <a:ea typeface="Microsoft JhengHei" panose="020B0604030504040204" pitchFamily="34" charset="-120"/>
            </a:endParaRPr>
          </a:p>
        </p:txBody>
      </p:sp>
      <p:grpSp>
        <p:nvGrpSpPr>
          <p:cNvPr id="17" name="Group 16">
            <a:extLst>
              <a:ext uri="{FF2B5EF4-FFF2-40B4-BE49-F238E27FC236}">
                <a16:creationId xmlns:a16="http://schemas.microsoft.com/office/drawing/2014/main" id="{68801219-6B65-4907-9E96-9ACBD6CBB605}"/>
              </a:ext>
            </a:extLst>
          </p:cNvPr>
          <p:cNvGrpSpPr/>
          <p:nvPr/>
        </p:nvGrpSpPr>
        <p:grpSpPr>
          <a:xfrm>
            <a:off x="1602159" y="3423342"/>
            <a:ext cx="1546728" cy="1643270"/>
            <a:chOff x="1254219" y="3538330"/>
            <a:chExt cx="1546728" cy="1643270"/>
          </a:xfrm>
        </p:grpSpPr>
        <p:cxnSp>
          <p:nvCxnSpPr>
            <p:cNvPr id="6" name="Straight Connector 5">
              <a:extLst>
                <a:ext uri="{FF2B5EF4-FFF2-40B4-BE49-F238E27FC236}">
                  <a16:creationId xmlns:a16="http://schemas.microsoft.com/office/drawing/2014/main" id="{E6AF99AE-180E-4EF4-B963-D55BB1D1EB15}"/>
                </a:ext>
              </a:extLst>
            </p:cNvPr>
            <p:cNvCxnSpPr>
              <a:cxnSpLocks/>
            </p:cNvCxnSpPr>
            <p:nvPr/>
          </p:nvCxnSpPr>
          <p:spPr>
            <a:xfrm>
              <a:off x="1254219" y="4359965"/>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98C1526-E39E-4914-80AB-AE6D3308FCF0}"/>
                </a:ext>
              </a:extLst>
            </p:cNvPr>
            <p:cNvCxnSpPr/>
            <p:nvPr/>
          </p:nvCxnSpPr>
          <p:spPr>
            <a:xfrm>
              <a:off x="2014330" y="3538330"/>
              <a:ext cx="0" cy="164327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8E4D336-A057-4075-BF7D-18CD5A0CDF25}"/>
                </a:ext>
              </a:extLst>
            </p:cNvPr>
            <p:cNvCxnSpPr>
              <a:cxnSpLocks/>
            </p:cNvCxnSpPr>
            <p:nvPr/>
          </p:nvCxnSpPr>
          <p:spPr>
            <a:xfrm>
              <a:off x="2014331" y="3538330"/>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9A12D77-8419-4829-BA48-28DDE99451FA}"/>
                </a:ext>
              </a:extLst>
            </p:cNvPr>
            <p:cNvCxnSpPr>
              <a:cxnSpLocks/>
            </p:cNvCxnSpPr>
            <p:nvPr/>
          </p:nvCxnSpPr>
          <p:spPr>
            <a:xfrm>
              <a:off x="2014330" y="4075043"/>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A1CFB1A-7FF8-404A-BF30-ACD33F2542C2}"/>
                </a:ext>
              </a:extLst>
            </p:cNvPr>
            <p:cNvCxnSpPr>
              <a:cxnSpLocks/>
            </p:cNvCxnSpPr>
            <p:nvPr/>
          </p:nvCxnSpPr>
          <p:spPr>
            <a:xfrm>
              <a:off x="2027583" y="4611756"/>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09C9B1-7E19-405C-8FC9-D985793F7E2D}"/>
                </a:ext>
              </a:extLst>
            </p:cNvPr>
            <p:cNvCxnSpPr>
              <a:cxnSpLocks/>
            </p:cNvCxnSpPr>
            <p:nvPr/>
          </p:nvCxnSpPr>
          <p:spPr>
            <a:xfrm>
              <a:off x="2027583" y="5174973"/>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007D4ED2-9FD7-4F57-957B-720DE9E00B58}"/>
              </a:ext>
            </a:extLst>
          </p:cNvPr>
          <p:cNvSpPr txBox="1"/>
          <p:nvPr/>
        </p:nvSpPr>
        <p:spPr>
          <a:xfrm>
            <a:off x="3215148" y="3765159"/>
            <a:ext cx="2492990"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對理想另一半特質評分</a:t>
            </a:r>
            <a:endParaRPr lang="en-US" dirty="0"/>
          </a:p>
        </p:txBody>
      </p:sp>
      <p:sp>
        <p:nvSpPr>
          <p:cNvPr id="19" name="TextBox 18">
            <a:extLst>
              <a:ext uri="{FF2B5EF4-FFF2-40B4-BE49-F238E27FC236}">
                <a16:creationId xmlns:a16="http://schemas.microsoft.com/office/drawing/2014/main" id="{C571275F-BD33-4C78-A678-FD922A1D2385}"/>
              </a:ext>
            </a:extLst>
          </p:cNvPr>
          <p:cNvSpPr txBox="1"/>
          <p:nvPr/>
        </p:nvSpPr>
        <p:spPr>
          <a:xfrm>
            <a:off x="3214834" y="4302880"/>
            <a:ext cx="2723823"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對當天配對者的特質評分</a:t>
            </a:r>
            <a:endParaRPr lang="en-US" dirty="0"/>
          </a:p>
        </p:txBody>
      </p:sp>
      <p:sp>
        <p:nvSpPr>
          <p:cNvPr id="20" name="TextBox 19">
            <a:extLst>
              <a:ext uri="{FF2B5EF4-FFF2-40B4-BE49-F238E27FC236}">
                <a16:creationId xmlns:a16="http://schemas.microsoft.com/office/drawing/2014/main" id="{76C787F9-C0F4-4F49-B809-00FC60D61FE1}"/>
              </a:ext>
            </a:extLst>
          </p:cNvPr>
          <p:cNvSpPr txBox="1"/>
          <p:nvPr/>
        </p:nvSpPr>
        <p:spPr>
          <a:xfrm>
            <a:off x="3214834" y="4869653"/>
            <a:ext cx="2954655"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配對者對參加者的特質評分</a:t>
            </a:r>
            <a:endParaRPr lang="en-US" dirty="0"/>
          </a:p>
        </p:txBody>
      </p:sp>
      <p:sp>
        <p:nvSpPr>
          <p:cNvPr id="21" name="TextBox 20">
            <a:extLst>
              <a:ext uri="{FF2B5EF4-FFF2-40B4-BE49-F238E27FC236}">
                <a16:creationId xmlns:a16="http://schemas.microsoft.com/office/drawing/2014/main" id="{15D5094F-065C-45B9-8377-2F27D667B77C}"/>
              </a:ext>
            </a:extLst>
          </p:cNvPr>
          <p:cNvSpPr txBox="1"/>
          <p:nvPr/>
        </p:nvSpPr>
        <p:spPr>
          <a:xfrm>
            <a:off x="583096" y="5408096"/>
            <a:ext cx="6173485" cy="497444"/>
          </a:xfrm>
          <a:prstGeom prst="rect">
            <a:avLst/>
          </a:prstGeom>
          <a:noFill/>
        </p:spPr>
        <p:txBody>
          <a:bodyPr wrap="none" rtlCol="0">
            <a:spAutoFit/>
          </a:bodyPr>
          <a:lstStyle/>
          <a:p>
            <a:pPr marL="342900" indent="-342900">
              <a:lnSpc>
                <a:spcPct val="1500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兩人興趣關聯分數、是否決定發展、是否達成配對</a:t>
            </a:r>
            <a:endParaRPr lang="en-US" sz="2000" b="1" dirty="0">
              <a:latin typeface="Microsoft JhengHei" panose="020B0604030504040204" pitchFamily="34" charset="-120"/>
              <a:ea typeface="Microsoft JhengHei" panose="020B0604030504040204" pitchFamily="34" charset="-120"/>
            </a:endParaRPr>
          </a:p>
        </p:txBody>
      </p:sp>
      <p:sp>
        <p:nvSpPr>
          <p:cNvPr id="22" name="TextBox 21">
            <a:extLst>
              <a:ext uri="{FF2B5EF4-FFF2-40B4-BE49-F238E27FC236}">
                <a16:creationId xmlns:a16="http://schemas.microsoft.com/office/drawing/2014/main" id="{E81AF5F7-1BD2-49BD-BBD1-BD5962499150}"/>
              </a:ext>
            </a:extLst>
          </p:cNvPr>
          <p:cNvSpPr txBox="1"/>
          <p:nvPr/>
        </p:nvSpPr>
        <p:spPr>
          <a:xfrm flipH="1">
            <a:off x="6998972" y="3372678"/>
            <a:ext cx="2087331" cy="1384995"/>
          </a:xfrm>
          <a:prstGeom prst="rect">
            <a:avLst/>
          </a:prstGeom>
          <a:noFill/>
        </p:spPr>
        <p:txBody>
          <a:bodyPr wrap="square" rtlCol="0">
            <a:spAutoFit/>
          </a:bodyPr>
          <a:lstStyle/>
          <a:p>
            <a:r>
              <a:rPr lang="en-US" sz="2800" b="1" dirty="0">
                <a:solidFill>
                  <a:srgbClr val="F8665F"/>
                </a:solidFill>
              </a:rPr>
              <a:t>Attractive</a:t>
            </a:r>
          </a:p>
          <a:p>
            <a:r>
              <a:rPr lang="en-US" sz="2800" b="1" dirty="0">
                <a:solidFill>
                  <a:srgbClr val="FDB839"/>
                </a:solidFill>
              </a:rPr>
              <a:t>Sincere</a:t>
            </a:r>
          </a:p>
          <a:p>
            <a:r>
              <a:rPr lang="en-US" sz="2800" b="1" dirty="0">
                <a:solidFill>
                  <a:srgbClr val="0098DB"/>
                </a:solidFill>
              </a:rPr>
              <a:t>Intelligence</a:t>
            </a:r>
          </a:p>
        </p:txBody>
      </p:sp>
      <p:sp>
        <p:nvSpPr>
          <p:cNvPr id="24" name="TextBox 23">
            <a:extLst>
              <a:ext uri="{FF2B5EF4-FFF2-40B4-BE49-F238E27FC236}">
                <a16:creationId xmlns:a16="http://schemas.microsoft.com/office/drawing/2014/main" id="{38BB1793-3116-4961-8D47-5F12E8F2E889}"/>
              </a:ext>
            </a:extLst>
          </p:cNvPr>
          <p:cNvSpPr txBox="1"/>
          <p:nvPr/>
        </p:nvSpPr>
        <p:spPr>
          <a:xfrm>
            <a:off x="9086303" y="3372536"/>
            <a:ext cx="2603020" cy="1384995"/>
          </a:xfrm>
          <a:prstGeom prst="rect">
            <a:avLst/>
          </a:prstGeom>
          <a:noFill/>
        </p:spPr>
        <p:txBody>
          <a:bodyPr wrap="none" rtlCol="0">
            <a:spAutoFit/>
          </a:bodyPr>
          <a:lstStyle/>
          <a:p>
            <a:r>
              <a:rPr lang="en-US" sz="2800" b="1" dirty="0">
                <a:solidFill>
                  <a:srgbClr val="323E4A"/>
                </a:solidFill>
              </a:rPr>
              <a:t>Funny</a:t>
            </a:r>
          </a:p>
          <a:p>
            <a:r>
              <a:rPr lang="en-US" sz="2800" b="1" dirty="0">
                <a:solidFill>
                  <a:srgbClr val="84CB7E"/>
                </a:solidFill>
              </a:rPr>
              <a:t>Ambitious</a:t>
            </a:r>
          </a:p>
          <a:p>
            <a:r>
              <a:rPr lang="en-US" sz="2800" b="1" dirty="0">
                <a:solidFill>
                  <a:srgbClr val="660066"/>
                </a:solidFill>
              </a:rPr>
              <a:t>Shared Interests</a:t>
            </a:r>
          </a:p>
        </p:txBody>
      </p:sp>
      <p:cxnSp>
        <p:nvCxnSpPr>
          <p:cNvPr id="26" name="Straight Connector 25">
            <a:extLst>
              <a:ext uri="{FF2B5EF4-FFF2-40B4-BE49-F238E27FC236}">
                <a16:creationId xmlns:a16="http://schemas.microsoft.com/office/drawing/2014/main" id="{9C412407-9D8E-454D-A54B-805BD561C19C}"/>
              </a:ext>
            </a:extLst>
          </p:cNvPr>
          <p:cNvCxnSpPr/>
          <p:nvPr/>
        </p:nvCxnSpPr>
        <p:spPr>
          <a:xfrm>
            <a:off x="6891130" y="3423342"/>
            <a:ext cx="0" cy="1248870"/>
          </a:xfrm>
          <a:prstGeom prst="line">
            <a:avLst/>
          </a:prstGeom>
          <a:ln w="762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4717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1620957"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分析目標</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9" name="TextBox 8">
            <a:extLst>
              <a:ext uri="{FF2B5EF4-FFF2-40B4-BE49-F238E27FC236}">
                <a16:creationId xmlns:a16="http://schemas.microsoft.com/office/drawing/2014/main" id="{3BDF5C2B-D5D9-414D-B81A-BF8FCCAA45BD}"/>
              </a:ext>
            </a:extLst>
          </p:cNvPr>
          <p:cNvSpPr txBox="1"/>
          <p:nvPr/>
        </p:nvSpPr>
        <p:spPr>
          <a:xfrm>
            <a:off x="556592" y="1524000"/>
            <a:ext cx="11290852" cy="1382301"/>
          </a:xfrm>
          <a:prstGeom prst="rect">
            <a:avLst/>
          </a:prstGeom>
          <a:noFill/>
        </p:spPr>
        <p:txBody>
          <a:bodyPr wrap="square" rtlCol="0">
            <a:spAutoFit/>
          </a:bodyPr>
          <a:lstStyle/>
          <a:p>
            <a:pPr>
              <a:lnSpc>
                <a:spcPct val="200000"/>
              </a:lnSpc>
              <a:spcBef>
                <a:spcPts val="1200"/>
              </a:spcBef>
            </a:pPr>
            <a:r>
              <a:rPr lang="en-US" altLang="zh-TW" sz="2000" b="1" dirty="0">
                <a:latin typeface="Microsoft JhengHei" panose="020B0604030504040204" pitchFamily="34" charset="-120"/>
                <a:ea typeface="Microsoft JhengHei" panose="020B0604030504040204" pitchFamily="34" charset="-120"/>
              </a:rPr>
              <a:t>1.</a:t>
            </a:r>
            <a:r>
              <a:rPr lang="zh-TW" altLang="en-US" sz="2000" b="1" dirty="0">
                <a:latin typeface="Microsoft JhengHei" panose="020B0604030504040204" pitchFamily="34" charset="-120"/>
                <a:ea typeface="Microsoft JhengHei" panose="020B0604030504040204" pitchFamily="34" charset="-120"/>
              </a:rPr>
              <a:t>人格特質</a:t>
            </a:r>
            <a:r>
              <a:rPr lang="en-US" altLang="zh-TW" sz="2000" b="1" dirty="0">
                <a:latin typeface="Microsoft JhengHei" panose="020B0604030504040204" pitchFamily="34" charset="-120"/>
                <a:ea typeface="Microsoft JhengHei" panose="020B0604030504040204" pitchFamily="34" charset="-120"/>
              </a:rPr>
              <a:t>(attribute)</a:t>
            </a:r>
            <a:r>
              <a:rPr lang="zh-TW" altLang="en-US" sz="2000" b="1" dirty="0">
                <a:latin typeface="Microsoft JhengHei" panose="020B0604030504040204" pitchFamily="34" charset="-120"/>
                <a:ea typeface="Microsoft JhengHei" panose="020B0604030504040204" pitchFamily="34" charset="-120"/>
              </a:rPr>
              <a:t>之間彼此是否有關聯性？</a:t>
            </a:r>
            <a:endParaRPr lang="en-US" altLang="zh-TW" sz="2000" b="1" dirty="0">
              <a:latin typeface="Microsoft JhengHei" panose="020B0604030504040204" pitchFamily="34" charset="-120"/>
              <a:ea typeface="Microsoft JhengHei" panose="020B0604030504040204" pitchFamily="34" charset="-120"/>
            </a:endParaRPr>
          </a:p>
          <a:p>
            <a:pPr>
              <a:lnSpc>
                <a:spcPct val="200000"/>
              </a:lnSpc>
              <a:spcBef>
                <a:spcPts val="1200"/>
              </a:spcBef>
            </a:pPr>
            <a:r>
              <a:rPr lang="en-US" sz="2000" b="1" dirty="0">
                <a:latin typeface="Microsoft JhengHei" panose="020B0604030504040204" pitchFamily="34" charset="-120"/>
                <a:ea typeface="Microsoft JhengHei" panose="020B0604030504040204" pitchFamily="34" charset="-120"/>
              </a:rPr>
              <a:t>2.</a:t>
            </a:r>
            <a:r>
              <a:rPr lang="zh-TW" altLang="en-US" sz="2000" b="1" dirty="0">
                <a:latin typeface="Microsoft JhengHei" panose="020B0604030504040204" pitchFamily="34" charset="-120"/>
                <a:ea typeface="Microsoft JhengHei" panose="020B0604030504040204" pitchFamily="34" charset="-120"/>
              </a:rPr>
              <a:t>各個</a:t>
            </a:r>
            <a:r>
              <a:rPr lang="en-US" altLang="zh-TW" sz="2000" b="1" dirty="0">
                <a:latin typeface="Microsoft JhengHei" panose="020B0604030504040204" pitchFamily="34" charset="-120"/>
                <a:ea typeface="Microsoft JhengHei" panose="020B0604030504040204" pitchFamily="34" charset="-120"/>
              </a:rPr>
              <a:t> attribute </a:t>
            </a:r>
            <a:r>
              <a:rPr lang="zh-TW" altLang="en-US" sz="2000" b="1" dirty="0">
                <a:latin typeface="Microsoft JhengHei" panose="020B0604030504040204" pitchFamily="34" charset="-120"/>
                <a:ea typeface="Microsoft JhengHei" panose="020B0604030504040204" pitchFamily="34" charset="-120"/>
              </a:rPr>
              <a:t>中哪幾項對最後</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的結果有較大的影響力</a:t>
            </a:r>
            <a:r>
              <a:rPr lang="en-US" altLang="zh-TW" sz="2000" b="1" dirty="0">
                <a:latin typeface="Microsoft JhengHei" panose="020B0604030504040204" pitchFamily="34" charset="-120"/>
                <a:ea typeface="Microsoft JhengHei" panose="020B0604030504040204" pitchFamily="34" charset="-120"/>
              </a:rPr>
              <a:t>?</a:t>
            </a:r>
            <a:endParaRPr lang="en-US" sz="2000" b="1"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1400492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19800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資料集概況</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10" name="TextBox 9">
            <a:extLst>
              <a:ext uri="{FF2B5EF4-FFF2-40B4-BE49-F238E27FC236}">
                <a16:creationId xmlns:a16="http://schemas.microsoft.com/office/drawing/2014/main" id="{3777FBA2-0FE2-453F-B9C8-4ED2486BF22E}"/>
              </a:ext>
            </a:extLst>
          </p:cNvPr>
          <p:cNvSpPr txBox="1"/>
          <p:nvPr/>
        </p:nvSpPr>
        <p:spPr>
          <a:xfrm>
            <a:off x="583096" y="1391478"/>
            <a:ext cx="4907113" cy="1112997"/>
          </a:xfrm>
          <a:prstGeom prst="rect">
            <a:avLst/>
          </a:prstGeom>
          <a:noFill/>
        </p:spPr>
        <p:txBody>
          <a:bodyPr wrap="none" rtlCol="0">
            <a:spAutoFit/>
          </a:bodyPr>
          <a:lstStyle/>
          <a:p>
            <a:pPr>
              <a:lnSpc>
                <a:spcPct val="150000"/>
              </a:lnSpc>
              <a:spcBef>
                <a:spcPts val="1200"/>
              </a:spcBef>
            </a:pPr>
            <a:r>
              <a:rPr lang="zh-TW" altLang="en-US" sz="2000" b="1" dirty="0">
                <a:latin typeface="Microsoft JhengHei" panose="020B0604030504040204" pitchFamily="34" charset="-120"/>
                <a:ea typeface="Microsoft JhengHei" panose="020B0604030504040204" pitchFamily="34" charset="-120"/>
              </a:rPr>
              <a:t>性別：男性</a:t>
            </a:r>
            <a:r>
              <a:rPr lang="en-US" altLang="zh-TW" sz="2000" b="1" dirty="0">
                <a:latin typeface="Microsoft JhengHei" panose="020B0604030504040204" pitchFamily="34" charset="-120"/>
                <a:ea typeface="Microsoft JhengHei" panose="020B0604030504040204" pitchFamily="34" charset="-120"/>
              </a:rPr>
              <a:t>(3504)</a:t>
            </a:r>
            <a:r>
              <a:rPr lang="zh-TW" altLang="en-US" sz="2000" b="1" dirty="0">
                <a:latin typeface="Microsoft JhengHei" panose="020B0604030504040204" pitchFamily="34" charset="-120"/>
                <a:ea typeface="Microsoft JhengHei" panose="020B0604030504040204" pitchFamily="34" charset="-120"/>
              </a:rPr>
              <a:t>、女性</a:t>
            </a:r>
            <a:r>
              <a:rPr lang="en-US" altLang="zh-TW" sz="2000" b="1" dirty="0">
                <a:latin typeface="Microsoft JhengHei" panose="020B0604030504040204" pitchFamily="34" charset="-120"/>
                <a:ea typeface="Microsoft JhengHei" panose="020B0604030504040204" pitchFamily="34" charset="-120"/>
              </a:rPr>
              <a:t>(3494)</a:t>
            </a:r>
          </a:p>
          <a:p>
            <a:pPr>
              <a:lnSpc>
                <a:spcPct val="150000"/>
              </a:lnSpc>
              <a:spcBef>
                <a:spcPts val="1200"/>
              </a:spcBef>
            </a:pPr>
            <a:r>
              <a:rPr lang="zh-TW" altLang="en-US" sz="2000" b="1" dirty="0">
                <a:latin typeface="Microsoft JhengHei" panose="020B0604030504040204" pitchFamily="34" charset="-120"/>
                <a:ea typeface="Microsoft JhengHei" panose="020B0604030504040204" pitchFamily="34" charset="-120"/>
              </a:rPr>
              <a:t>年齡：平均值</a:t>
            </a:r>
            <a:r>
              <a:rPr lang="en-US" altLang="zh-TW" sz="2000" b="1" dirty="0">
                <a:latin typeface="Microsoft JhengHei" panose="020B0604030504040204" pitchFamily="34" charset="-120"/>
                <a:ea typeface="Microsoft JhengHei" panose="020B0604030504040204" pitchFamily="34" charset="-120"/>
              </a:rPr>
              <a:t>26.6</a:t>
            </a:r>
            <a:r>
              <a:rPr lang="zh-TW" altLang="en-US" sz="2000" b="1" dirty="0">
                <a:latin typeface="Microsoft JhengHei" panose="020B0604030504040204" pitchFamily="34" charset="-120"/>
                <a:ea typeface="Microsoft JhengHei" panose="020B0604030504040204" pitchFamily="34" charset="-120"/>
              </a:rPr>
              <a:t>，最大值</a:t>
            </a:r>
            <a:r>
              <a:rPr lang="en-US" altLang="zh-TW" sz="2000" b="1" dirty="0">
                <a:latin typeface="Microsoft JhengHei" panose="020B0604030504040204" pitchFamily="34" charset="-120"/>
                <a:ea typeface="Microsoft JhengHei" panose="020B0604030504040204" pitchFamily="34" charset="-120"/>
              </a:rPr>
              <a:t>55</a:t>
            </a:r>
            <a:r>
              <a:rPr lang="zh-TW" altLang="en-US" sz="2000" b="1" dirty="0">
                <a:latin typeface="Microsoft JhengHei" panose="020B0604030504040204" pitchFamily="34" charset="-120"/>
                <a:ea typeface="Microsoft JhengHei" panose="020B0604030504040204" pitchFamily="34" charset="-120"/>
              </a:rPr>
              <a:t>，最小值</a:t>
            </a:r>
            <a:r>
              <a:rPr lang="en-US" altLang="zh-TW" sz="2000" b="1" dirty="0">
                <a:latin typeface="Microsoft JhengHei" panose="020B0604030504040204" pitchFamily="34" charset="-120"/>
                <a:ea typeface="Microsoft JhengHei" panose="020B0604030504040204" pitchFamily="34" charset="-120"/>
              </a:rPr>
              <a:t>18</a:t>
            </a:r>
          </a:p>
        </p:txBody>
      </p:sp>
      <p:sp>
        <p:nvSpPr>
          <p:cNvPr id="11" name="TextBox 10">
            <a:extLst>
              <a:ext uri="{FF2B5EF4-FFF2-40B4-BE49-F238E27FC236}">
                <a16:creationId xmlns:a16="http://schemas.microsoft.com/office/drawing/2014/main" id="{CB6039A2-9CAF-469D-96E9-4423B5CF1BD2}"/>
              </a:ext>
            </a:extLst>
          </p:cNvPr>
          <p:cNvSpPr txBox="1"/>
          <p:nvPr/>
        </p:nvSpPr>
        <p:spPr>
          <a:xfrm>
            <a:off x="3241337" y="3061064"/>
            <a:ext cx="3305235" cy="369332"/>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對自己個人特質評分</a:t>
            </a:r>
            <a:r>
              <a:rPr lang="en-US" altLang="zh-TW" b="1" dirty="0">
                <a:latin typeface="Microsoft JhengHei" panose="020B0604030504040204" pitchFamily="34" charset="-120"/>
                <a:ea typeface="Microsoft JhengHei" panose="020B0604030504040204" pitchFamily="34" charset="-120"/>
              </a:rPr>
              <a:t>(0 – 10)</a:t>
            </a:r>
            <a:endParaRPr lang="en-US" dirty="0"/>
          </a:p>
        </p:txBody>
      </p:sp>
      <p:sp>
        <p:nvSpPr>
          <p:cNvPr id="12" name="TextBox 11">
            <a:extLst>
              <a:ext uri="{FF2B5EF4-FFF2-40B4-BE49-F238E27FC236}">
                <a16:creationId xmlns:a16="http://schemas.microsoft.com/office/drawing/2014/main" id="{3E35FE1B-5092-4A76-B249-B77F1154C050}"/>
              </a:ext>
            </a:extLst>
          </p:cNvPr>
          <p:cNvSpPr txBox="1"/>
          <p:nvPr/>
        </p:nvSpPr>
        <p:spPr>
          <a:xfrm>
            <a:off x="583096" y="3756410"/>
            <a:ext cx="697627" cy="497444"/>
          </a:xfrm>
          <a:prstGeom prst="rect">
            <a:avLst/>
          </a:prstGeom>
          <a:noFill/>
        </p:spPr>
        <p:txBody>
          <a:bodyPr wrap="none" rtlCol="0">
            <a:spAutoFit/>
          </a:bodyPr>
          <a:lstStyle/>
          <a:p>
            <a:pPr>
              <a:lnSpc>
                <a:spcPct val="150000"/>
              </a:lnSpc>
              <a:spcBef>
                <a:spcPts val="1200"/>
              </a:spcBef>
            </a:pPr>
            <a:r>
              <a:rPr lang="zh-TW" altLang="en-US" sz="2000" b="1" dirty="0">
                <a:latin typeface="Microsoft JhengHei" panose="020B0604030504040204" pitchFamily="34" charset="-120"/>
                <a:ea typeface="Microsoft JhengHei" panose="020B0604030504040204" pitchFamily="34" charset="-120"/>
              </a:rPr>
              <a:t>分數</a:t>
            </a:r>
            <a:endParaRPr lang="en-US" altLang="zh-TW" sz="2000" b="1" dirty="0">
              <a:latin typeface="Microsoft JhengHei" panose="020B0604030504040204" pitchFamily="34" charset="-120"/>
              <a:ea typeface="Microsoft JhengHei" panose="020B0604030504040204" pitchFamily="34" charset="-120"/>
            </a:endParaRPr>
          </a:p>
        </p:txBody>
      </p:sp>
      <p:grpSp>
        <p:nvGrpSpPr>
          <p:cNvPr id="13" name="Group 12">
            <a:extLst>
              <a:ext uri="{FF2B5EF4-FFF2-40B4-BE49-F238E27FC236}">
                <a16:creationId xmlns:a16="http://schemas.microsoft.com/office/drawing/2014/main" id="{9E770A6A-F191-4219-8AC7-35DBF042D8F2}"/>
              </a:ext>
            </a:extLst>
          </p:cNvPr>
          <p:cNvGrpSpPr/>
          <p:nvPr/>
        </p:nvGrpSpPr>
        <p:grpSpPr>
          <a:xfrm>
            <a:off x="1628663" y="3247593"/>
            <a:ext cx="1546728" cy="1643270"/>
            <a:chOff x="1254219" y="3538330"/>
            <a:chExt cx="1546728" cy="1643270"/>
          </a:xfrm>
        </p:grpSpPr>
        <p:cxnSp>
          <p:nvCxnSpPr>
            <p:cNvPr id="14" name="Straight Connector 13">
              <a:extLst>
                <a:ext uri="{FF2B5EF4-FFF2-40B4-BE49-F238E27FC236}">
                  <a16:creationId xmlns:a16="http://schemas.microsoft.com/office/drawing/2014/main" id="{F8FEB835-61AE-4745-AA09-FE43DF377585}"/>
                </a:ext>
              </a:extLst>
            </p:cNvPr>
            <p:cNvCxnSpPr>
              <a:cxnSpLocks/>
            </p:cNvCxnSpPr>
            <p:nvPr/>
          </p:nvCxnSpPr>
          <p:spPr>
            <a:xfrm>
              <a:off x="1254219" y="4359965"/>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CA39FFB-C29B-47CB-BCB1-8C4268787E1B}"/>
                </a:ext>
              </a:extLst>
            </p:cNvPr>
            <p:cNvCxnSpPr/>
            <p:nvPr/>
          </p:nvCxnSpPr>
          <p:spPr>
            <a:xfrm>
              <a:off x="2014330" y="3538330"/>
              <a:ext cx="0" cy="164327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A23784-ECDE-4F9E-9D8D-7E8CDDB68A88}"/>
                </a:ext>
              </a:extLst>
            </p:cNvPr>
            <p:cNvCxnSpPr>
              <a:cxnSpLocks/>
            </p:cNvCxnSpPr>
            <p:nvPr/>
          </p:nvCxnSpPr>
          <p:spPr>
            <a:xfrm>
              <a:off x="2014331" y="3538330"/>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6AF4E22-7FAB-4A8D-BEEB-40EDE679E3BC}"/>
                </a:ext>
              </a:extLst>
            </p:cNvPr>
            <p:cNvCxnSpPr>
              <a:cxnSpLocks/>
            </p:cNvCxnSpPr>
            <p:nvPr/>
          </p:nvCxnSpPr>
          <p:spPr>
            <a:xfrm>
              <a:off x="2014330" y="4075043"/>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DD9738-06D0-4AF0-A70A-DD90A1E49563}"/>
                </a:ext>
              </a:extLst>
            </p:cNvPr>
            <p:cNvCxnSpPr>
              <a:cxnSpLocks/>
            </p:cNvCxnSpPr>
            <p:nvPr/>
          </p:nvCxnSpPr>
          <p:spPr>
            <a:xfrm>
              <a:off x="2027583" y="4611756"/>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06669AA-7FCD-4FD8-B3AC-336771A675BA}"/>
                </a:ext>
              </a:extLst>
            </p:cNvPr>
            <p:cNvCxnSpPr>
              <a:cxnSpLocks/>
            </p:cNvCxnSpPr>
            <p:nvPr/>
          </p:nvCxnSpPr>
          <p:spPr>
            <a:xfrm>
              <a:off x="2027583" y="5174973"/>
              <a:ext cx="773364" cy="0"/>
            </a:xfrm>
            <a:prstGeom prst="line">
              <a:avLst/>
            </a:prstGeom>
            <a:ln w="2857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sp>
        <p:nvSpPr>
          <p:cNvPr id="20" name="TextBox 19">
            <a:extLst>
              <a:ext uri="{FF2B5EF4-FFF2-40B4-BE49-F238E27FC236}">
                <a16:creationId xmlns:a16="http://schemas.microsoft.com/office/drawing/2014/main" id="{67CA8969-35D8-420F-96CB-B6940840EA74}"/>
              </a:ext>
            </a:extLst>
          </p:cNvPr>
          <p:cNvSpPr txBox="1"/>
          <p:nvPr/>
        </p:nvSpPr>
        <p:spPr>
          <a:xfrm>
            <a:off x="3241652" y="3589410"/>
            <a:ext cx="4916731"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對理想另一半特質評分</a:t>
            </a:r>
            <a:r>
              <a:rPr lang="en-US" altLang="zh-TW" b="1" dirty="0">
                <a:latin typeface="Microsoft JhengHei" panose="020B0604030504040204" pitchFamily="34" charset="-120"/>
                <a:ea typeface="Microsoft JhengHei" panose="020B0604030504040204" pitchFamily="34" charset="-120"/>
              </a:rPr>
              <a:t>(100</a:t>
            </a:r>
            <a:r>
              <a:rPr lang="zh-TW" altLang="en-US" b="1" dirty="0">
                <a:latin typeface="Microsoft JhengHei" panose="020B0604030504040204" pitchFamily="34" charset="-120"/>
                <a:ea typeface="Microsoft JhengHei" panose="020B0604030504040204" pitchFamily="34" charset="-120"/>
              </a:rPr>
              <a:t>分，分給五個選項</a:t>
            </a:r>
            <a:r>
              <a:rPr lang="en-US" altLang="zh-TW" b="1" dirty="0">
                <a:latin typeface="Microsoft JhengHei" panose="020B0604030504040204" pitchFamily="34" charset="-120"/>
                <a:ea typeface="Microsoft JhengHei" panose="020B0604030504040204" pitchFamily="34" charset="-120"/>
              </a:rPr>
              <a:t>)</a:t>
            </a:r>
            <a:endParaRPr lang="en-US" dirty="0"/>
          </a:p>
        </p:txBody>
      </p:sp>
      <p:sp>
        <p:nvSpPr>
          <p:cNvPr id="21" name="TextBox 20">
            <a:extLst>
              <a:ext uri="{FF2B5EF4-FFF2-40B4-BE49-F238E27FC236}">
                <a16:creationId xmlns:a16="http://schemas.microsoft.com/office/drawing/2014/main" id="{48025AC3-21D0-4C3F-9705-05A1DAD4240F}"/>
              </a:ext>
            </a:extLst>
          </p:cNvPr>
          <p:cNvSpPr txBox="1"/>
          <p:nvPr/>
        </p:nvSpPr>
        <p:spPr>
          <a:xfrm>
            <a:off x="3241338" y="4127131"/>
            <a:ext cx="3517310"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對當天配對者的特質評分</a:t>
            </a:r>
            <a:r>
              <a:rPr lang="en-US" altLang="zh-TW" b="1" dirty="0">
                <a:latin typeface="Microsoft JhengHei" panose="020B0604030504040204" pitchFamily="34" charset="-120"/>
                <a:ea typeface="Microsoft JhengHei" panose="020B0604030504040204" pitchFamily="34" charset="-120"/>
              </a:rPr>
              <a:t>(0 - 10)</a:t>
            </a:r>
            <a:endParaRPr lang="en-US" dirty="0"/>
          </a:p>
        </p:txBody>
      </p:sp>
      <p:sp>
        <p:nvSpPr>
          <p:cNvPr id="22" name="TextBox 21">
            <a:extLst>
              <a:ext uri="{FF2B5EF4-FFF2-40B4-BE49-F238E27FC236}">
                <a16:creationId xmlns:a16="http://schemas.microsoft.com/office/drawing/2014/main" id="{2C03E8CC-F393-4560-A153-97FB1DDDB13B}"/>
              </a:ext>
            </a:extLst>
          </p:cNvPr>
          <p:cNvSpPr txBox="1"/>
          <p:nvPr/>
        </p:nvSpPr>
        <p:spPr>
          <a:xfrm>
            <a:off x="3241338" y="4693904"/>
            <a:ext cx="3748142" cy="369332"/>
          </a:xfrm>
          <a:prstGeom prst="rect">
            <a:avLst/>
          </a:prstGeom>
          <a:noFill/>
        </p:spPr>
        <p:txBody>
          <a:bodyPr wrap="none" rtlCol="0">
            <a:spAutoFit/>
          </a:bodyPr>
          <a:lstStyle/>
          <a:p>
            <a:r>
              <a:rPr lang="zh-TW" altLang="en-US" b="1" dirty="0">
                <a:latin typeface="Microsoft JhengHei" panose="020B0604030504040204" pitchFamily="34" charset="-120"/>
                <a:ea typeface="Microsoft JhengHei" panose="020B0604030504040204" pitchFamily="34" charset="-120"/>
              </a:rPr>
              <a:t>配對者對參加者的特質評分</a:t>
            </a:r>
            <a:r>
              <a:rPr lang="en-US" altLang="zh-TW" b="1" dirty="0">
                <a:latin typeface="Microsoft JhengHei" panose="020B0604030504040204" pitchFamily="34" charset="-120"/>
                <a:ea typeface="Microsoft JhengHei" panose="020B0604030504040204" pitchFamily="34" charset="-120"/>
              </a:rPr>
              <a:t>(0 - 10)</a:t>
            </a:r>
            <a:endParaRPr lang="en-US" dirty="0"/>
          </a:p>
        </p:txBody>
      </p:sp>
    </p:spTree>
    <p:extLst>
      <p:ext uri="{BB962C8B-B14F-4D97-AF65-F5344CB8AC3E}">
        <p14:creationId xmlns:p14="http://schemas.microsoft.com/office/powerpoint/2010/main" val="2260451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19800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資料集概況</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4" name="TextBox 3">
            <a:extLst>
              <a:ext uri="{FF2B5EF4-FFF2-40B4-BE49-F238E27FC236}">
                <a16:creationId xmlns:a16="http://schemas.microsoft.com/office/drawing/2014/main" id="{85FB07BE-B5F7-4BDA-8FCF-67424322C95B}"/>
              </a:ext>
            </a:extLst>
          </p:cNvPr>
          <p:cNvSpPr txBox="1"/>
          <p:nvPr/>
        </p:nvSpPr>
        <p:spPr>
          <a:xfrm>
            <a:off x="417443" y="1207818"/>
            <a:ext cx="7968848" cy="955903"/>
          </a:xfrm>
          <a:prstGeom prst="rect">
            <a:avLst/>
          </a:prstGeom>
          <a:noFill/>
        </p:spPr>
        <p:txBody>
          <a:bodyPr wrap="non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人們「評價自己」，比「評價他人」和「他人評價自己」要來的高</a:t>
            </a:r>
            <a:endParaRPr lang="en-US" altLang="zh-TW" sz="2000" b="1" dirty="0">
              <a:latin typeface="Microsoft JhengHei" panose="020B0604030504040204" pitchFamily="34" charset="-120"/>
              <a:ea typeface="Microsoft JhengHei" panose="020B0604030504040204" pitchFamily="34" charset="-120"/>
            </a:endParaRPr>
          </a:p>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其中</a:t>
            </a:r>
            <a:r>
              <a:rPr lang="en-US" altLang="zh-TW" sz="2000" b="1" dirty="0">
                <a:latin typeface="Microsoft JhengHei" panose="020B0604030504040204" pitchFamily="34" charset="-120"/>
                <a:ea typeface="Microsoft JhengHei" panose="020B0604030504040204" pitchFamily="34" charset="-120"/>
              </a:rPr>
              <a:t> “funny” </a:t>
            </a:r>
            <a:r>
              <a:rPr lang="zh-TW" altLang="en-US" sz="2000" b="1" dirty="0">
                <a:latin typeface="Microsoft JhengHei" panose="020B0604030504040204" pitchFamily="34" charset="-120"/>
                <a:ea typeface="Microsoft JhengHei" panose="020B0604030504040204" pitchFamily="34" charset="-120"/>
              </a:rPr>
              <a:t>的自評與他評的平均值相差最多</a:t>
            </a:r>
            <a:endParaRPr lang="en-US" sz="2000" b="1" dirty="0">
              <a:latin typeface="Microsoft JhengHei" panose="020B0604030504040204" pitchFamily="34" charset="-120"/>
              <a:ea typeface="Microsoft JhengHei" panose="020B0604030504040204" pitchFamily="34" charset="-120"/>
            </a:endParaRPr>
          </a:p>
        </p:txBody>
      </p:sp>
      <p:cxnSp>
        <p:nvCxnSpPr>
          <p:cNvPr id="11" name="Straight Connector 10">
            <a:extLst>
              <a:ext uri="{FF2B5EF4-FFF2-40B4-BE49-F238E27FC236}">
                <a16:creationId xmlns:a16="http://schemas.microsoft.com/office/drawing/2014/main" id="{D37F1685-E608-4520-AFC6-0FBF95DD06A4}"/>
              </a:ext>
            </a:extLst>
          </p:cNvPr>
          <p:cNvCxnSpPr/>
          <p:nvPr/>
        </p:nvCxnSpPr>
        <p:spPr>
          <a:xfrm>
            <a:off x="6308034" y="2309198"/>
            <a:ext cx="0" cy="3618364"/>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room&#10;&#10;Description automatically generated">
            <a:extLst>
              <a:ext uri="{FF2B5EF4-FFF2-40B4-BE49-F238E27FC236}">
                <a16:creationId xmlns:a16="http://schemas.microsoft.com/office/drawing/2014/main" id="{304202F5-64B4-4661-BCB5-72C240CA3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8052" y="2358630"/>
            <a:ext cx="5934075" cy="3514725"/>
          </a:xfrm>
          <a:prstGeom prst="rect">
            <a:avLst/>
          </a:prstGeom>
        </p:spPr>
      </p:pic>
      <p:pic>
        <p:nvPicPr>
          <p:cNvPr id="16" name="Picture 15">
            <a:extLst>
              <a:ext uri="{FF2B5EF4-FFF2-40B4-BE49-F238E27FC236}">
                <a16:creationId xmlns:a16="http://schemas.microsoft.com/office/drawing/2014/main" id="{5BD0A374-C9BF-4483-B16E-1E7DD4EADF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3942" y="2378542"/>
            <a:ext cx="5886450" cy="3514725"/>
          </a:xfrm>
          <a:prstGeom prst="rect">
            <a:avLst/>
          </a:prstGeom>
        </p:spPr>
      </p:pic>
    </p:spTree>
    <p:extLst>
      <p:ext uri="{BB962C8B-B14F-4D97-AF65-F5344CB8AC3E}">
        <p14:creationId xmlns:p14="http://schemas.microsoft.com/office/powerpoint/2010/main" val="3016623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19800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資料前處理</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11" name="TextBox 10">
            <a:extLst>
              <a:ext uri="{FF2B5EF4-FFF2-40B4-BE49-F238E27FC236}">
                <a16:creationId xmlns:a16="http://schemas.microsoft.com/office/drawing/2014/main" id="{D3BA049F-0355-4944-93CD-4624A2A85129}"/>
              </a:ext>
            </a:extLst>
          </p:cNvPr>
          <p:cNvSpPr txBox="1"/>
          <p:nvPr/>
        </p:nvSpPr>
        <p:spPr>
          <a:xfrm>
            <a:off x="424069" y="1459609"/>
            <a:ext cx="8372357" cy="1959383"/>
          </a:xfrm>
          <a:prstGeom prst="rect">
            <a:avLst/>
          </a:prstGeom>
          <a:noFill/>
        </p:spPr>
        <p:txBody>
          <a:bodyPr wrap="non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因 </a:t>
            </a:r>
            <a:r>
              <a:rPr lang="en-US" altLang="zh-TW" sz="2000" b="1" dirty="0">
                <a:latin typeface="Microsoft JhengHei" panose="020B0604030504040204" pitchFamily="34" charset="-120"/>
                <a:ea typeface="Microsoft JhengHei" panose="020B0604030504040204" pitchFamily="34" charset="-120"/>
              </a:rPr>
              <a:t>columns</a:t>
            </a:r>
            <a:r>
              <a:rPr lang="zh-TW" altLang="en-US" sz="2000" b="1" dirty="0">
                <a:latin typeface="Microsoft JhengHei" panose="020B0604030504040204" pitchFamily="34" charset="-120"/>
                <a:ea typeface="Microsoft JhengHei" panose="020B0604030504040204" pitchFamily="34" charset="-120"/>
              </a:rPr>
              <a:t> 名稱有拼字錯誤或用字不一致，故重新命名</a:t>
            </a:r>
            <a:r>
              <a:rPr lang="en-US" altLang="zh-TW" sz="2000" b="1" dirty="0">
                <a:latin typeface="Microsoft JhengHei" panose="020B0604030504040204" pitchFamily="34" charset="-120"/>
                <a:ea typeface="Microsoft JhengHei" panose="020B0604030504040204" pitchFamily="34" charset="-120"/>
              </a:rPr>
              <a:t>columns</a:t>
            </a:r>
          </a:p>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移除未填寫完整的資料</a:t>
            </a:r>
            <a:r>
              <a:rPr lang="en-US" altLang="zh-TW" sz="2000" b="1" dirty="0">
                <a:latin typeface="Microsoft JhengHei" panose="020B0604030504040204" pitchFamily="34" charset="-120"/>
                <a:ea typeface="Microsoft JhengHei" panose="020B0604030504040204" pitchFamily="34" charset="-120"/>
              </a:rPr>
              <a:t>300</a:t>
            </a:r>
            <a:r>
              <a:rPr lang="zh-TW" altLang="en-US" sz="2000" b="1" dirty="0">
                <a:latin typeface="Microsoft JhengHei" panose="020B0604030504040204" pitchFamily="34" charset="-120"/>
                <a:ea typeface="Microsoft JhengHei" panose="020B0604030504040204" pitchFamily="34" charset="-120"/>
              </a:rPr>
              <a:t>多筆</a:t>
            </a:r>
            <a:endParaRPr lang="en-US" altLang="zh-TW" sz="2000" b="1" dirty="0">
              <a:latin typeface="Microsoft JhengHei" panose="020B0604030504040204" pitchFamily="34" charset="-120"/>
              <a:ea typeface="Microsoft JhengHei" panose="020B0604030504040204" pitchFamily="34" charset="-120"/>
            </a:endParaRPr>
          </a:p>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移除不必要的</a:t>
            </a:r>
            <a:r>
              <a:rPr lang="en-US" altLang="zh-TW" sz="2000" b="1" dirty="0">
                <a:latin typeface="Microsoft JhengHei" panose="020B0604030504040204" pitchFamily="34" charset="-120"/>
                <a:ea typeface="Microsoft JhengHei" panose="020B0604030504040204" pitchFamily="34" charset="-120"/>
              </a:rPr>
              <a:t>columns (</a:t>
            </a:r>
            <a:r>
              <a:rPr lang="zh-TW" altLang="en-US" sz="2000" b="1" dirty="0">
                <a:latin typeface="Microsoft JhengHei" panose="020B0604030504040204" pitchFamily="34" charset="-120"/>
                <a:ea typeface="Microsoft JhengHei" panose="020B0604030504040204" pitchFamily="34" charset="-120"/>
              </a:rPr>
              <a:t>如</a:t>
            </a:r>
            <a:r>
              <a:rPr lang="en-US" altLang="zh-TW" sz="2000" b="1" dirty="0">
                <a:latin typeface="Microsoft JhengHei" panose="020B0604030504040204" pitchFamily="34" charset="-120"/>
                <a:ea typeface="Microsoft JhengHei" panose="020B0604030504040204" pitchFamily="34" charset="-120"/>
              </a:rPr>
              <a:t>:</a:t>
            </a:r>
            <a:r>
              <a:rPr lang="zh-TW" altLang="en-US" sz="2000" b="1" dirty="0">
                <a:latin typeface="Microsoft JhengHei" panose="020B0604030504040204" pitchFamily="34" charset="-120"/>
                <a:ea typeface="Microsoft JhengHei" panose="020B0604030504040204" pitchFamily="34" charset="-120"/>
              </a:rPr>
              <a:t> 年齡區間、各分數區間、預期</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數</a:t>
            </a:r>
            <a:r>
              <a:rPr lang="en-US" altLang="zh-TW" sz="2000" b="1" dirty="0">
                <a:latin typeface="Microsoft JhengHei" panose="020B0604030504040204" pitchFamily="34" charset="-120"/>
                <a:ea typeface="Microsoft JhengHei" panose="020B0604030504040204" pitchFamily="34" charset="-120"/>
              </a:rPr>
              <a:t>)</a:t>
            </a:r>
          </a:p>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依 </a:t>
            </a:r>
            <a:r>
              <a:rPr lang="en-US" altLang="zh-TW" sz="2000" b="1" dirty="0">
                <a:latin typeface="Microsoft JhengHei" panose="020B0604030504040204" pitchFamily="34" charset="-120"/>
                <a:ea typeface="Microsoft JhengHei" panose="020B0604030504040204" pitchFamily="34" charset="-120"/>
              </a:rPr>
              <a:t>attribute</a:t>
            </a:r>
            <a:r>
              <a:rPr lang="zh-TW" altLang="en-US" sz="2000" b="1" dirty="0">
                <a:latin typeface="Microsoft JhengHei" panose="020B0604030504040204" pitchFamily="34" charset="-120"/>
                <a:ea typeface="Microsoft JhengHei" panose="020B0604030504040204" pitchFamily="34" charset="-120"/>
              </a:rPr>
              <a:t> 拆為不同</a:t>
            </a:r>
            <a:r>
              <a:rPr lang="en-US" altLang="zh-TW" sz="2000" b="1" dirty="0">
                <a:latin typeface="Microsoft JhengHei" panose="020B0604030504040204" pitchFamily="34" charset="-120"/>
                <a:ea typeface="Microsoft JhengHei" panose="020B0604030504040204" pitchFamily="34" charset="-120"/>
              </a:rPr>
              <a:t> </a:t>
            </a:r>
            <a:r>
              <a:rPr lang="en-US" altLang="zh-TW" sz="2000" b="1" dirty="0" err="1">
                <a:latin typeface="Microsoft JhengHei" panose="020B0604030504040204" pitchFamily="34" charset="-120"/>
                <a:ea typeface="Microsoft JhengHei" panose="020B0604030504040204" pitchFamily="34" charset="-120"/>
              </a:rPr>
              <a:t>dataframe</a:t>
            </a:r>
            <a:endParaRPr lang="en-US" altLang="zh-TW" sz="2000" b="1" dirty="0">
              <a:latin typeface="Microsoft JhengHei" panose="020B0604030504040204" pitchFamily="34" charset="-120"/>
              <a:ea typeface="Microsoft JhengHei" panose="020B0604030504040204" pitchFamily="34" charset="-120"/>
            </a:endParaRPr>
          </a:p>
        </p:txBody>
      </p:sp>
      <p:pic>
        <p:nvPicPr>
          <p:cNvPr id="4" name="Picture 3">
            <a:extLst>
              <a:ext uri="{FF2B5EF4-FFF2-40B4-BE49-F238E27FC236}">
                <a16:creationId xmlns:a16="http://schemas.microsoft.com/office/drawing/2014/main" id="{85234865-B987-4E0D-B05C-F6A55BFE455B}"/>
              </a:ext>
            </a:extLst>
          </p:cNvPr>
          <p:cNvPicPr>
            <a:picLocks noChangeAspect="1"/>
          </p:cNvPicPr>
          <p:nvPr/>
        </p:nvPicPr>
        <p:blipFill>
          <a:blip r:embed="rId3"/>
          <a:stretch>
            <a:fillRect/>
          </a:stretch>
        </p:blipFill>
        <p:spPr>
          <a:xfrm>
            <a:off x="3243585" y="4209243"/>
            <a:ext cx="8727141" cy="1446420"/>
          </a:xfrm>
          <a:prstGeom prst="rect">
            <a:avLst/>
          </a:prstGeom>
        </p:spPr>
      </p:pic>
    </p:spTree>
    <p:extLst>
      <p:ext uri="{BB962C8B-B14F-4D97-AF65-F5344CB8AC3E}">
        <p14:creationId xmlns:p14="http://schemas.microsoft.com/office/powerpoint/2010/main" val="1153627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3995004" cy="523220"/>
          </a:xfrm>
          <a:prstGeom prst="rect">
            <a:avLst/>
          </a:prstGeom>
          <a:noFill/>
        </p:spPr>
        <p:txBody>
          <a:bodyPr wrap="none" rtlCol="0">
            <a:spAutoFit/>
          </a:bodyPr>
          <a:lstStyle/>
          <a:p>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Attribute</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間關聯性分析</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10" name="TextBox 9">
            <a:extLst>
              <a:ext uri="{FF2B5EF4-FFF2-40B4-BE49-F238E27FC236}">
                <a16:creationId xmlns:a16="http://schemas.microsoft.com/office/drawing/2014/main" id="{5A970801-21B0-4F6B-8B54-92B67EA75228}"/>
              </a:ext>
            </a:extLst>
          </p:cNvPr>
          <p:cNvSpPr txBox="1"/>
          <p:nvPr/>
        </p:nvSpPr>
        <p:spPr>
          <a:xfrm>
            <a:off x="4294944" y="392912"/>
            <a:ext cx="3440301" cy="369332"/>
          </a:xfrm>
          <a:prstGeom prst="rect">
            <a:avLst/>
          </a:prstGeom>
          <a:noFill/>
        </p:spPr>
        <p:txBody>
          <a:bodyPr wrap="none" rtlCol="0">
            <a:spAutoFit/>
          </a:bodyPr>
          <a:lstStyle/>
          <a:p>
            <a:r>
              <a:rPr lang="en-US" dirty="0"/>
              <a:t>-</a:t>
            </a:r>
            <a:r>
              <a:rPr lang="zh-TW" altLang="en-US" dirty="0"/>
              <a:t> </a:t>
            </a:r>
            <a:r>
              <a:rPr lang="en-US" altLang="zh-TW" dirty="0"/>
              <a:t>What do you look for in a partner</a:t>
            </a:r>
            <a:endParaRPr lang="en-US" dirty="0"/>
          </a:p>
        </p:txBody>
      </p:sp>
      <p:sp>
        <p:nvSpPr>
          <p:cNvPr id="11" name="TextBox 10">
            <a:extLst>
              <a:ext uri="{FF2B5EF4-FFF2-40B4-BE49-F238E27FC236}">
                <a16:creationId xmlns:a16="http://schemas.microsoft.com/office/drawing/2014/main" id="{0C5ED08C-A117-4DF9-9A93-FB00B72A7F42}"/>
              </a:ext>
            </a:extLst>
          </p:cNvPr>
          <p:cNvSpPr txBox="1"/>
          <p:nvPr/>
        </p:nvSpPr>
        <p:spPr>
          <a:xfrm>
            <a:off x="145775" y="1484243"/>
            <a:ext cx="4167282" cy="420500"/>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目的：</a:t>
            </a:r>
            <a:endParaRPr lang="en-US" altLang="zh-TW" sz="2000" b="1" dirty="0">
              <a:latin typeface="Microsoft JhengHei" panose="020B0604030504040204" pitchFamily="34" charset="-120"/>
              <a:ea typeface="Microsoft JhengHei" panose="020B0604030504040204" pitchFamily="34" charset="-120"/>
            </a:endParaRPr>
          </a:p>
        </p:txBody>
      </p:sp>
      <p:grpSp>
        <p:nvGrpSpPr>
          <p:cNvPr id="15" name="Group 14">
            <a:extLst>
              <a:ext uri="{FF2B5EF4-FFF2-40B4-BE49-F238E27FC236}">
                <a16:creationId xmlns:a16="http://schemas.microsoft.com/office/drawing/2014/main" id="{D536C9B5-0BE6-4EC6-8B52-9832A91CD8F5}"/>
              </a:ext>
            </a:extLst>
          </p:cNvPr>
          <p:cNvGrpSpPr/>
          <p:nvPr/>
        </p:nvGrpSpPr>
        <p:grpSpPr>
          <a:xfrm>
            <a:off x="4412974" y="1192699"/>
            <a:ext cx="7779026" cy="5665301"/>
            <a:chOff x="4162425" y="1200150"/>
            <a:chExt cx="8029575" cy="5657850"/>
          </a:xfrm>
        </p:grpSpPr>
        <p:pic>
          <p:nvPicPr>
            <p:cNvPr id="3" name="Picture 2" descr="A screen shot of a computer&#10;&#10;Description automatically generated">
              <a:extLst>
                <a:ext uri="{FF2B5EF4-FFF2-40B4-BE49-F238E27FC236}">
                  <a16:creationId xmlns:a16="http://schemas.microsoft.com/office/drawing/2014/main" id="{4D02C679-4E01-4587-8B7A-973DCA19D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2425" y="1200150"/>
              <a:ext cx="8029575" cy="5657850"/>
            </a:xfrm>
            <a:prstGeom prst="rect">
              <a:avLst/>
            </a:prstGeom>
          </p:spPr>
        </p:pic>
        <p:sp>
          <p:nvSpPr>
            <p:cNvPr id="6" name="Rectangle 5">
              <a:extLst>
                <a:ext uri="{FF2B5EF4-FFF2-40B4-BE49-F238E27FC236}">
                  <a16:creationId xmlns:a16="http://schemas.microsoft.com/office/drawing/2014/main" id="{ABB18241-E94D-462D-B3AE-AB7F4BD21F89}"/>
                </a:ext>
              </a:extLst>
            </p:cNvPr>
            <p:cNvSpPr/>
            <p:nvPr/>
          </p:nvSpPr>
          <p:spPr>
            <a:xfrm>
              <a:off x="6095999" y="1484243"/>
              <a:ext cx="715617" cy="55659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728600F-E2CC-4FD2-9288-829C3F6DC457}"/>
                </a:ext>
              </a:extLst>
            </p:cNvPr>
            <p:cNvSpPr/>
            <p:nvPr/>
          </p:nvSpPr>
          <p:spPr>
            <a:xfrm>
              <a:off x="9627703" y="2498480"/>
              <a:ext cx="715617" cy="55659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9594159-4E7E-424F-8D48-6B49AEC9F8FF}"/>
                </a:ext>
              </a:extLst>
            </p:cNvPr>
            <p:cNvSpPr/>
            <p:nvPr/>
          </p:nvSpPr>
          <p:spPr>
            <a:xfrm>
              <a:off x="10343320" y="2498480"/>
              <a:ext cx="715617" cy="55659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79BDEC-123A-4899-86A8-8FA71217EBD3}"/>
                </a:ext>
              </a:extLst>
            </p:cNvPr>
            <p:cNvSpPr/>
            <p:nvPr/>
          </p:nvSpPr>
          <p:spPr>
            <a:xfrm>
              <a:off x="7487835" y="2485227"/>
              <a:ext cx="715617" cy="55659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06028A05-CA20-4DD0-A9A1-1893345FD169}"/>
              </a:ext>
            </a:extLst>
          </p:cNvPr>
          <p:cNvSpPr txBox="1"/>
          <p:nvPr/>
        </p:nvSpPr>
        <p:spPr>
          <a:xfrm>
            <a:off x="145775" y="3041818"/>
            <a:ext cx="4167282" cy="420500"/>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發現：</a:t>
            </a:r>
            <a:endParaRPr lang="en-US" altLang="zh-TW" sz="2000" b="1" dirty="0">
              <a:latin typeface="Microsoft JhengHei" panose="020B0604030504040204" pitchFamily="34" charset="-120"/>
              <a:ea typeface="Microsoft JhengHei" panose="020B0604030504040204" pitchFamily="34" charset="-120"/>
            </a:endParaRPr>
          </a:p>
        </p:txBody>
      </p:sp>
      <p:sp>
        <p:nvSpPr>
          <p:cNvPr id="17" name="TextBox 16">
            <a:extLst>
              <a:ext uri="{FF2B5EF4-FFF2-40B4-BE49-F238E27FC236}">
                <a16:creationId xmlns:a16="http://schemas.microsoft.com/office/drawing/2014/main" id="{46C1191E-0879-458C-B738-2D0B02E55195}"/>
              </a:ext>
            </a:extLst>
          </p:cNvPr>
          <p:cNvSpPr txBox="1"/>
          <p:nvPr/>
        </p:nvSpPr>
        <p:spPr>
          <a:xfrm>
            <a:off x="477078" y="2107094"/>
            <a:ext cx="4041914" cy="646331"/>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若有因子間呈現高度相關者，後續選取特徵時，可優先篩選掉。</a:t>
            </a:r>
            <a:endParaRPr lang="en-US" altLang="zh-TW" b="1" dirty="0">
              <a:latin typeface="Microsoft JhengHei" panose="020B0604030504040204" pitchFamily="34" charset="-120"/>
              <a:ea typeface="Microsoft JhengHei" panose="020B0604030504040204" pitchFamily="34" charset="-120"/>
            </a:endParaRPr>
          </a:p>
        </p:txBody>
      </p:sp>
      <p:sp>
        <p:nvSpPr>
          <p:cNvPr id="18" name="TextBox 17">
            <a:extLst>
              <a:ext uri="{FF2B5EF4-FFF2-40B4-BE49-F238E27FC236}">
                <a16:creationId xmlns:a16="http://schemas.microsoft.com/office/drawing/2014/main" id="{FDBAACDE-19BB-4508-BBC7-E3488B356268}"/>
              </a:ext>
            </a:extLst>
          </p:cNvPr>
          <p:cNvSpPr txBox="1"/>
          <p:nvPr/>
        </p:nvSpPr>
        <p:spPr>
          <a:xfrm>
            <a:off x="477078" y="3750711"/>
            <a:ext cx="4041914" cy="646331"/>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在乎 </a:t>
            </a:r>
            <a:r>
              <a:rPr lang="en-US" altLang="zh-TW" b="1" dirty="0">
                <a:latin typeface="Microsoft JhengHei" panose="020B0604030504040204" pitchFamily="34" charset="-120"/>
                <a:ea typeface="Microsoft JhengHei" panose="020B0604030504040204" pitchFamily="34" charset="-120"/>
              </a:rPr>
              <a:t>partner</a:t>
            </a:r>
            <a:r>
              <a:rPr lang="zh-TW" altLang="en-US" b="1" dirty="0">
                <a:latin typeface="Microsoft JhengHei" panose="020B0604030504040204" pitchFamily="34" charset="-120"/>
                <a:ea typeface="Microsoft JhengHei" panose="020B0604030504040204" pitchFamily="34" charset="-120"/>
              </a:rPr>
              <a:t> 是否為同種族者，通常亦在乎對方是否同宗教</a:t>
            </a:r>
            <a:endParaRPr lang="en-US" b="1" dirty="0">
              <a:latin typeface="Microsoft JhengHei" panose="020B0604030504040204" pitchFamily="34" charset="-120"/>
              <a:ea typeface="Microsoft JhengHei" panose="020B0604030504040204" pitchFamily="34" charset="-120"/>
            </a:endParaRPr>
          </a:p>
        </p:txBody>
      </p:sp>
      <p:sp>
        <p:nvSpPr>
          <p:cNvPr id="19" name="TextBox 18">
            <a:extLst>
              <a:ext uri="{FF2B5EF4-FFF2-40B4-BE49-F238E27FC236}">
                <a16:creationId xmlns:a16="http://schemas.microsoft.com/office/drawing/2014/main" id="{F0EF8E17-3020-4708-96C4-55E2D94B35D5}"/>
              </a:ext>
            </a:extLst>
          </p:cNvPr>
          <p:cNvSpPr txBox="1"/>
          <p:nvPr/>
        </p:nvSpPr>
        <p:spPr>
          <a:xfrm>
            <a:off x="477078" y="4599393"/>
            <a:ext cx="4041914" cy="923330"/>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在乎 </a:t>
            </a:r>
            <a:r>
              <a:rPr lang="en-US" altLang="zh-TW" b="1" dirty="0">
                <a:latin typeface="Microsoft JhengHei" panose="020B0604030504040204" pitchFamily="34" charset="-120"/>
                <a:ea typeface="Microsoft JhengHei" panose="020B0604030504040204" pitchFamily="34" charset="-120"/>
              </a:rPr>
              <a:t>partner</a:t>
            </a:r>
            <a:r>
              <a:rPr lang="zh-TW" altLang="en-US" b="1" dirty="0">
                <a:latin typeface="Microsoft JhengHei" panose="020B0604030504040204" pitchFamily="34" charset="-120"/>
                <a:ea typeface="Microsoft JhengHei" panose="020B0604030504040204" pitchFamily="34" charset="-120"/>
              </a:rPr>
              <a:t> 外表吸引力者，通常就不那麼在乎其是否真誠、是否具強烈企圖心、是否具共同興趣</a:t>
            </a:r>
            <a:endParaRPr lang="en-US" b="1"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3461332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3995004" cy="523220"/>
          </a:xfrm>
          <a:prstGeom prst="rect">
            <a:avLst/>
          </a:prstGeom>
          <a:noFill/>
        </p:spPr>
        <p:txBody>
          <a:bodyPr wrap="none" rtlCol="0">
            <a:spAutoFit/>
          </a:bodyPr>
          <a:lstStyle/>
          <a:p>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Attribute</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間關聯性分析</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10" name="TextBox 9">
            <a:extLst>
              <a:ext uri="{FF2B5EF4-FFF2-40B4-BE49-F238E27FC236}">
                <a16:creationId xmlns:a16="http://schemas.microsoft.com/office/drawing/2014/main" id="{5A970801-21B0-4F6B-8B54-92B67EA75228}"/>
              </a:ext>
            </a:extLst>
          </p:cNvPr>
          <p:cNvSpPr txBox="1"/>
          <p:nvPr/>
        </p:nvSpPr>
        <p:spPr>
          <a:xfrm>
            <a:off x="4294944" y="392912"/>
            <a:ext cx="3224088" cy="369332"/>
          </a:xfrm>
          <a:prstGeom prst="rect">
            <a:avLst/>
          </a:prstGeom>
          <a:noFill/>
        </p:spPr>
        <p:txBody>
          <a:bodyPr wrap="none" rtlCol="0">
            <a:spAutoFit/>
          </a:bodyPr>
          <a:lstStyle/>
          <a:p>
            <a:r>
              <a:rPr lang="en-US" dirty="0"/>
              <a:t>-</a:t>
            </a:r>
            <a:r>
              <a:rPr lang="zh-TW" altLang="en-US" dirty="0"/>
              <a:t> </a:t>
            </a:r>
            <a:r>
              <a:rPr lang="en-US" altLang="zh-TW" dirty="0"/>
              <a:t>Evaluate my Own and be Rated</a:t>
            </a:r>
            <a:endParaRPr lang="en-US" dirty="0"/>
          </a:p>
        </p:txBody>
      </p:sp>
      <p:sp>
        <p:nvSpPr>
          <p:cNvPr id="11" name="TextBox 10">
            <a:extLst>
              <a:ext uri="{FF2B5EF4-FFF2-40B4-BE49-F238E27FC236}">
                <a16:creationId xmlns:a16="http://schemas.microsoft.com/office/drawing/2014/main" id="{0C5ED08C-A117-4DF9-9A93-FB00B72A7F42}"/>
              </a:ext>
            </a:extLst>
          </p:cNvPr>
          <p:cNvSpPr txBox="1"/>
          <p:nvPr/>
        </p:nvSpPr>
        <p:spPr>
          <a:xfrm>
            <a:off x="145775" y="1484243"/>
            <a:ext cx="4167282" cy="420500"/>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目的：</a:t>
            </a:r>
            <a:endParaRPr lang="en-US" altLang="zh-TW" sz="2000" b="1" dirty="0">
              <a:latin typeface="Microsoft JhengHei" panose="020B0604030504040204" pitchFamily="34" charset="-120"/>
              <a:ea typeface="Microsoft JhengHei" panose="020B0604030504040204" pitchFamily="34" charset="-120"/>
            </a:endParaRPr>
          </a:p>
        </p:txBody>
      </p:sp>
      <p:sp>
        <p:nvSpPr>
          <p:cNvPr id="16" name="TextBox 15">
            <a:extLst>
              <a:ext uri="{FF2B5EF4-FFF2-40B4-BE49-F238E27FC236}">
                <a16:creationId xmlns:a16="http://schemas.microsoft.com/office/drawing/2014/main" id="{06028A05-CA20-4DD0-A9A1-1893345FD169}"/>
              </a:ext>
            </a:extLst>
          </p:cNvPr>
          <p:cNvSpPr txBox="1"/>
          <p:nvPr/>
        </p:nvSpPr>
        <p:spPr>
          <a:xfrm>
            <a:off x="145775" y="3041818"/>
            <a:ext cx="4167282" cy="420500"/>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發現：</a:t>
            </a:r>
            <a:endParaRPr lang="en-US" altLang="zh-TW" sz="2000" b="1" dirty="0">
              <a:latin typeface="Microsoft JhengHei" panose="020B0604030504040204" pitchFamily="34" charset="-120"/>
              <a:ea typeface="Microsoft JhengHei" panose="020B0604030504040204" pitchFamily="34" charset="-120"/>
            </a:endParaRPr>
          </a:p>
        </p:txBody>
      </p:sp>
      <p:sp>
        <p:nvSpPr>
          <p:cNvPr id="17" name="TextBox 16">
            <a:extLst>
              <a:ext uri="{FF2B5EF4-FFF2-40B4-BE49-F238E27FC236}">
                <a16:creationId xmlns:a16="http://schemas.microsoft.com/office/drawing/2014/main" id="{46C1191E-0879-458C-B738-2D0B02E55195}"/>
              </a:ext>
            </a:extLst>
          </p:cNvPr>
          <p:cNvSpPr txBox="1"/>
          <p:nvPr/>
        </p:nvSpPr>
        <p:spPr>
          <a:xfrm>
            <a:off x="477078" y="2107094"/>
            <a:ext cx="4041914" cy="646331"/>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想了解認定自己擁有的特質，是否也能與配對者的評分一致</a:t>
            </a:r>
            <a:endParaRPr lang="en-US" altLang="zh-TW" b="1" dirty="0">
              <a:latin typeface="Microsoft JhengHei" panose="020B0604030504040204" pitchFamily="34" charset="-120"/>
              <a:ea typeface="Microsoft JhengHei" panose="020B0604030504040204" pitchFamily="34" charset="-120"/>
            </a:endParaRPr>
          </a:p>
        </p:txBody>
      </p:sp>
      <p:sp>
        <p:nvSpPr>
          <p:cNvPr id="18" name="TextBox 17">
            <a:extLst>
              <a:ext uri="{FF2B5EF4-FFF2-40B4-BE49-F238E27FC236}">
                <a16:creationId xmlns:a16="http://schemas.microsoft.com/office/drawing/2014/main" id="{FDBAACDE-19BB-4508-BBC7-E3488B356268}"/>
              </a:ext>
            </a:extLst>
          </p:cNvPr>
          <p:cNvSpPr txBox="1"/>
          <p:nvPr/>
        </p:nvSpPr>
        <p:spPr>
          <a:xfrm>
            <a:off x="477078" y="3750711"/>
            <a:ext cx="4041914" cy="923330"/>
          </a:xfrm>
          <a:prstGeom prst="rect">
            <a:avLst/>
          </a:prstGeom>
          <a:noFill/>
        </p:spPr>
        <p:txBody>
          <a:bodyPr wrap="square" rtlCol="0">
            <a:spAutoFit/>
          </a:bodyPr>
          <a:lstStyle/>
          <a:p>
            <a:r>
              <a:rPr lang="zh-TW" altLang="en-US" b="1" dirty="0">
                <a:latin typeface="Microsoft JhengHei" panose="020B0604030504040204" pitchFamily="34" charset="-120"/>
                <a:ea typeface="Microsoft JhengHei" panose="020B0604030504040204" pitchFamily="34" charset="-120"/>
              </a:rPr>
              <a:t>除 </a:t>
            </a:r>
            <a:r>
              <a:rPr lang="en-US" altLang="zh-TW" b="1" dirty="0">
                <a:latin typeface="Microsoft JhengHei" panose="020B0604030504040204" pitchFamily="34" charset="-120"/>
                <a:ea typeface="Microsoft JhengHei" panose="020B0604030504040204" pitchFamily="34" charset="-120"/>
              </a:rPr>
              <a:t>attractive</a:t>
            </a:r>
            <a:r>
              <a:rPr lang="zh-TW" altLang="en-US" b="1" dirty="0">
                <a:latin typeface="Microsoft JhengHei" panose="020B0604030504040204" pitchFamily="34" charset="-120"/>
                <a:ea typeface="Microsoft JhengHei" panose="020B0604030504040204" pitchFamily="34" charset="-120"/>
              </a:rPr>
              <a:t> 外，其他特質皆無法明顯看出個人認定與配對者評分之間有任何顯著的關係</a:t>
            </a:r>
            <a:endParaRPr lang="en-US" b="1" dirty="0">
              <a:latin typeface="Microsoft JhengHei" panose="020B0604030504040204" pitchFamily="34" charset="-120"/>
              <a:ea typeface="Microsoft JhengHei" panose="020B0604030504040204" pitchFamily="34" charset="-120"/>
            </a:endParaRPr>
          </a:p>
        </p:txBody>
      </p:sp>
      <p:pic>
        <p:nvPicPr>
          <p:cNvPr id="4" name="Picture 3" descr="A screen shot of a computer&#10;&#10;Description automatically generated">
            <a:extLst>
              <a:ext uri="{FF2B5EF4-FFF2-40B4-BE49-F238E27FC236}">
                <a16:creationId xmlns:a16="http://schemas.microsoft.com/office/drawing/2014/main" id="{EA044278-F9E2-4631-8E4B-B84FCAEB7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1786" y="967612"/>
            <a:ext cx="7690214" cy="5647778"/>
          </a:xfrm>
          <a:prstGeom prst="rect">
            <a:avLst/>
          </a:prstGeom>
        </p:spPr>
      </p:pic>
      <p:sp>
        <p:nvSpPr>
          <p:cNvPr id="21" name="Rectangle 20">
            <a:extLst>
              <a:ext uri="{FF2B5EF4-FFF2-40B4-BE49-F238E27FC236}">
                <a16:creationId xmlns:a16="http://schemas.microsoft.com/office/drawing/2014/main" id="{14B85752-D752-4E01-85BB-0010C8B593B2}"/>
              </a:ext>
            </a:extLst>
          </p:cNvPr>
          <p:cNvSpPr/>
          <p:nvPr/>
        </p:nvSpPr>
        <p:spPr>
          <a:xfrm>
            <a:off x="6736787" y="3103872"/>
            <a:ext cx="445891" cy="35844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3653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50418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使用 </a:t>
            </a:r>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logistic Regression</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模型</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9" name="TextBox 8">
            <a:extLst>
              <a:ext uri="{FF2B5EF4-FFF2-40B4-BE49-F238E27FC236}">
                <a16:creationId xmlns:a16="http://schemas.microsoft.com/office/drawing/2014/main" id="{B823CADC-1D13-43AB-817A-CDA0BB29DE04}"/>
              </a:ext>
            </a:extLst>
          </p:cNvPr>
          <p:cNvSpPr txBox="1"/>
          <p:nvPr/>
        </p:nvSpPr>
        <p:spPr>
          <a:xfrm>
            <a:off x="417443" y="1207818"/>
            <a:ext cx="11602279" cy="779572"/>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目的：分析「對他人評分」、「被評分」、「理想個性評分」這三項指標，何者較能與最終的</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比例一致</a:t>
            </a:r>
            <a:r>
              <a:rPr lang="en-US" altLang="zh-TW" sz="2000" b="1" dirty="0">
                <a:latin typeface="Microsoft JhengHei" panose="020B0604030504040204" pitchFamily="34" charset="-120"/>
                <a:ea typeface="Microsoft JhengHei" panose="020B0604030504040204" pitchFamily="34" charset="-120"/>
              </a:rPr>
              <a:t>?</a:t>
            </a:r>
            <a:endParaRPr lang="en-US" sz="2000" b="1" dirty="0">
              <a:latin typeface="Microsoft JhengHei" panose="020B0604030504040204" pitchFamily="34" charset="-120"/>
              <a:ea typeface="Microsoft JhengHei" panose="020B0604030504040204" pitchFamily="34" charset="-120"/>
            </a:endParaRPr>
          </a:p>
        </p:txBody>
      </p:sp>
      <p:sp>
        <p:nvSpPr>
          <p:cNvPr id="10" name="TextBox 9">
            <a:extLst>
              <a:ext uri="{FF2B5EF4-FFF2-40B4-BE49-F238E27FC236}">
                <a16:creationId xmlns:a16="http://schemas.microsoft.com/office/drawing/2014/main" id="{64E0961A-DD2B-4E9E-808A-1F192FFA3B1C}"/>
              </a:ext>
            </a:extLst>
          </p:cNvPr>
          <p:cNvSpPr txBox="1"/>
          <p:nvPr/>
        </p:nvSpPr>
        <p:spPr>
          <a:xfrm>
            <a:off x="424069" y="2534842"/>
            <a:ext cx="1300356" cy="420500"/>
          </a:xfrm>
          <a:prstGeom prst="rect">
            <a:avLst/>
          </a:prstGeom>
          <a:noFill/>
        </p:spPr>
        <p:txBody>
          <a:bodyPr wrap="non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做法：</a:t>
            </a:r>
          </a:p>
        </p:txBody>
      </p:sp>
      <p:pic>
        <p:nvPicPr>
          <p:cNvPr id="11" name="Picture 10" descr="A picture containing text&#10;&#10;Description automatically generated">
            <a:extLst>
              <a:ext uri="{FF2B5EF4-FFF2-40B4-BE49-F238E27FC236}">
                <a16:creationId xmlns:a16="http://schemas.microsoft.com/office/drawing/2014/main" id="{6AAC640D-8C0E-472D-BADF-8F5810EFBD02}"/>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sp>
        <p:nvSpPr>
          <p:cNvPr id="12" name="TextBox 11">
            <a:extLst>
              <a:ext uri="{FF2B5EF4-FFF2-40B4-BE49-F238E27FC236}">
                <a16:creationId xmlns:a16="http://schemas.microsoft.com/office/drawing/2014/main" id="{991922D9-0DDD-4490-AFBA-624CB67731CB}"/>
              </a:ext>
            </a:extLst>
          </p:cNvPr>
          <p:cNvSpPr txBox="1"/>
          <p:nvPr/>
        </p:nvSpPr>
        <p:spPr>
          <a:xfrm>
            <a:off x="871139" y="3332569"/>
            <a:ext cx="3581365" cy="2466444"/>
          </a:xfrm>
          <a:prstGeom prst="rect">
            <a:avLst/>
          </a:prstGeom>
          <a:noFill/>
        </p:spPr>
        <p:txBody>
          <a:bodyPr wrap="none" rtlCol="0">
            <a:spAutoFit/>
          </a:bodyPr>
          <a:lstStyle/>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en-US" b="1" dirty="0" err="1">
                <a:latin typeface="Microsoft JhengHei" panose="020B0604030504040204" pitchFamily="34" charset="-120"/>
                <a:ea typeface="Microsoft JhengHei" panose="020B0604030504040204" pitchFamily="34" charset="-120"/>
              </a:rPr>
              <a:t>partner_rating_data</a:t>
            </a:r>
            <a:r>
              <a:rPr lang="en-US" b="1" dirty="0">
                <a:latin typeface="Microsoft JhengHei" panose="020B0604030504040204" pitchFamily="34" charset="-120"/>
                <a:ea typeface="Microsoft JhengHei" panose="020B0604030504040204" pitchFamily="34" charset="-120"/>
              </a:rPr>
              <a:t> </a:t>
            </a:r>
          </a:p>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en-US" b="1" dirty="0" err="1">
                <a:latin typeface="Microsoft JhengHei" panose="020B0604030504040204" pitchFamily="34" charset="-120"/>
                <a:ea typeface="Microsoft JhengHei" panose="020B0604030504040204" pitchFamily="34" charset="-120"/>
              </a:rPr>
              <a:t>partner_feature_data</a:t>
            </a:r>
            <a:endParaRPr lang="en-US" b="1" dirty="0">
              <a:latin typeface="Microsoft JhengHei" panose="020B0604030504040204" pitchFamily="34" charset="-120"/>
              <a:ea typeface="Microsoft JhengHei" panose="020B0604030504040204" pitchFamily="34" charset="-120"/>
            </a:endParaRPr>
          </a:p>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en-US" b="1" dirty="0" err="1">
                <a:latin typeface="Microsoft JhengHei" panose="020B0604030504040204" pitchFamily="34" charset="-120"/>
                <a:ea typeface="Microsoft JhengHei" panose="020B0604030504040204" pitchFamily="34" charset="-120"/>
              </a:rPr>
              <a:t>feature_importance_data</a:t>
            </a:r>
            <a:r>
              <a:rPr lang="en-US" b="1" dirty="0">
                <a:latin typeface="Microsoft JhengHei" panose="020B0604030504040204" pitchFamily="34" charset="-120"/>
                <a:ea typeface="Microsoft JhengHei" panose="020B0604030504040204" pitchFamily="34" charset="-120"/>
              </a:rPr>
              <a:t> </a:t>
            </a:r>
          </a:p>
          <a:p>
            <a:pPr>
              <a:lnSpc>
                <a:spcPts val="2800"/>
              </a:lnSpc>
              <a:spcBef>
                <a:spcPts val="1200"/>
              </a:spcBef>
            </a:pPr>
            <a:r>
              <a:rPr lang="en-US" b="1" dirty="0">
                <a:latin typeface="Microsoft JhengHei" panose="020B0604030504040204" pitchFamily="34" charset="-120"/>
                <a:ea typeface="Microsoft JhengHei" panose="020B0604030504040204" pitchFamily="34" charset="-120"/>
              </a:rPr>
              <a:t>y = </a:t>
            </a:r>
            <a:r>
              <a:rPr lang="en-US" b="1" dirty="0" err="1">
                <a:latin typeface="Microsoft JhengHei" panose="020B0604030504040204" pitchFamily="34" charset="-120"/>
                <a:ea typeface="Microsoft JhengHei" panose="020B0604030504040204" pitchFamily="34" charset="-120"/>
              </a:rPr>
              <a:t>clean_data</a:t>
            </a:r>
            <a:r>
              <a:rPr lang="en-US" b="1" dirty="0">
                <a:latin typeface="Microsoft JhengHei" panose="020B0604030504040204" pitchFamily="34" charset="-120"/>
                <a:ea typeface="Microsoft JhengHei" panose="020B0604030504040204" pitchFamily="34" charset="-120"/>
              </a:rPr>
              <a:t>['match']</a:t>
            </a:r>
          </a:p>
          <a:p>
            <a:pPr>
              <a:lnSpc>
                <a:spcPts val="2800"/>
              </a:lnSpc>
              <a:spcBef>
                <a:spcPts val="1200"/>
              </a:spcBef>
            </a:pPr>
            <a:endParaRPr lang="en-US" b="1" dirty="0">
              <a:latin typeface="Microsoft JhengHei" panose="020B0604030504040204" pitchFamily="34" charset="-120"/>
              <a:ea typeface="Microsoft JhengHei" panose="020B0604030504040204" pitchFamily="34" charset="-120"/>
            </a:endParaRPr>
          </a:p>
        </p:txBody>
      </p:sp>
      <p:sp>
        <p:nvSpPr>
          <p:cNvPr id="13" name="Right Bracket 12">
            <a:extLst>
              <a:ext uri="{FF2B5EF4-FFF2-40B4-BE49-F238E27FC236}">
                <a16:creationId xmlns:a16="http://schemas.microsoft.com/office/drawing/2014/main" id="{AF958C0F-ACE5-4670-9FA3-C0E9B6D905C5}"/>
              </a:ext>
            </a:extLst>
          </p:cNvPr>
          <p:cNvSpPr/>
          <p:nvPr/>
        </p:nvSpPr>
        <p:spPr>
          <a:xfrm>
            <a:off x="4147704" y="3521766"/>
            <a:ext cx="304800" cy="1858617"/>
          </a:xfrm>
          <a:prstGeom prst="rightBracket">
            <a:avLst/>
          </a:prstGeom>
          <a:ln w="38100">
            <a:solidFill>
              <a:srgbClr val="66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770A13B0-DA6A-4518-BEFB-F6FB446C0916}"/>
              </a:ext>
            </a:extLst>
          </p:cNvPr>
          <p:cNvSpPr txBox="1"/>
          <p:nvPr/>
        </p:nvSpPr>
        <p:spPr>
          <a:xfrm>
            <a:off x="5022767" y="3902596"/>
            <a:ext cx="6758608" cy="1292533"/>
          </a:xfrm>
          <a:prstGeom prst="rect">
            <a:avLst/>
          </a:prstGeom>
          <a:noFill/>
        </p:spPr>
        <p:txBody>
          <a:bodyPr wrap="square" rtlCol="0">
            <a:spAutoFit/>
          </a:bodyPr>
          <a:lstStyle/>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三種 </a:t>
            </a:r>
            <a:r>
              <a:rPr lang="en-US" altLang="zh-TW" sz="2000" b="1" dirty="0">
                <a:latin typeface="Microsoft JhengHei" panose="020B0604030504040204" pitchFamily="34" charset="-120"/>
                <a:ea typeface="Microsoft JhengHei" panose="020B0604030504040204" pitchFamily="34" charset="-120"/>
              </a:rPr>
              <a:t>x</a:t>
            </a:r>
            <a:r>
              <a:rPr lang="zh-TW" altLang="en-US" sz="2000" b="1" dirty="0">
                <a:latin typeface="Microsoft JhengHei" panose="020B0604030504040204" pitchFamily="34" charset="-120"/>
                <a:ea typeface="Microsoft JhengHei" panose="020B0604030504040204" pitchFamily="34" charset="-120"/>
              </a:rPr>
              <a:t> 代入模型後計算</a:t>
            </a:r>
            <a:r>
              <a:rPr lang="en-US" altLang="zh-TW" sz="2000" b="1" dirty="0">
                <a:latin typeface="Microsoft JhengHei" panose="020B0604030504040204" pitchFamily="34" charset="-120"/>
                <a:ea typeface="Microsoft JhengHei" panose="020B0604030504040204" pitchFamily="34" charset="-120"/>
              </a:rPr>
              <a:t>error</a:t>
            </a:r>
            <a:r>
              <a:rPr lang="zh-TW" altLang="en-US" sz="2000" b="1" dirty="0">
                <a:latin typeface="Microsoft JhengHei" panose="020B0604030504040204" pitchFamily="34" charset="-120"/>
                <a:ea typeface="Microsoft JhengHei" panose="020B0604030504040204" pitchFamily="34" charset="-120"/>
              </a:rPr>
              <a:t>數與準確率。</a:t>
            </a:r>
            <a:endParaRPr lang="en-US" altLang="zh-TW" sz="2000" b="1" dirty="0">
              <a:latin typeface="Microsoft JhengHei" panose="020B0604030504040204" pitchFamily="34" charset="-120"/>
              <a:ea typeface="Microsoft JhengHei" panose="020B0604030504040204" pitchFamily="34" charset="-120"/>
            </a:endParaRPr>
          </a:p>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發現「理想個性評分」的錯誤數最少</a:t>
            </a:r>
            <a:r>
              <a:rPr lang="en-US" altLang="zh-TW" sz="2000" b="1" dirty="0">
                <a:latin typeface="Microsoft JhengHei" panose="020B0604030504040204" pitchFamily="34" charset="-120"/>
                <a:ea typeface="Microsoft JhengHei" panose="020B0604030504040204" pitchFamily="34" charset="-120"/>
              </a:rPr>
              <a:t>(</a:t>
            </a:r>
            <a:r>
              <a:rPr lang="zh-TW" altLang="en-US" sz="2000" b="1" dirty="0">
                <a:latin typeface="Microsoft JhengHei" panose="020B0604030504040204" pitchFamily="34" charset="-120"/>
                <a:ea typeface="Microsoft JhengHei" panose="020B0604030504040204" pitchFamily="34" charset="-120"/>
              </a:rPr>
              <a:t>約</a:t>
            </a:r>
            <a:r>
              <a:rPr lang="en-US" altLang="zh-TW" sz="2000" b="1" dirty="0">
                <a:latin typeface="Microsoft JhengHei" panose="020B0604030504040204" pitchFamily="34" charset="-120"/>
                <a:ea typeface="Microsoft JhengHei" panose="020B0604030504040204" pitchFamily="34" charset="-120"/>
              </a:rPr>
              <a:t>390-420)</a:t>
            </a:r>
            <a:r>
              <a:rPr lang="zh-TW" altLang="en-US" sz="2000" b="1" dirty="0">
                <a:latin typeface="Microsoft JhengHei" panose="020B0604030504040204" pitchFamily="34" charset="-120"/>
                <a:ea typeface="Microsoft JhengHei" panose="020B0604030504040204" pitchFamily="34" charset="-120"/>
              </a:rPr>
              <a:t>，且準確率較為穩定</a:t>
            </a:r>
            <a:r>
              <a:rPr lang="en-US" altLang="zh-TW" sz="2000" b="1" dirty="0">
                <a:latin typeface="Microsoft JhengHei" panose="020B0604030504040204" pitchFamily="34" charset="-120"/>
                <a:ea typeface="Microsoft JhengHei" panose="020B0604030504040204" pitchFamily="34" charset="-120"/>
              </a:rPr>
              <a:t>(</a:t>
            </a:r>
            <a:r>
              <a:rPr lang="zh-TW" altLang="en-US" sz="2000" b="1" dirty="0">
                <a:latin typeface="Microsoft JhengHei" panose="020B0604030504040204" pitchFamily="34" charset="-120"/>
                <a:ea typeface="Microsoft JhengHei" panose="020B0604030504040204" pitchFamily="34" charset="-120"/>
              </a:rPr>
              <a:t>約</a:t>
            </a:r>
            <a:r>
              <a:rPr lang="en-US" altLang="zh-TW" sz="2000" b="1" dirty="0">
                <a:latin typeface="Microsoft JhengHei" panose="020B0604030504040204" pitchFamily="34" charset="-120"/>
                <a:ea typeface="Microsoft JhengHei" panose="020B0604030504040204" pitchFamily="34" charset="-120"/>
              </a:rPr>
              <a:t>83%)</a:t>
            </a:r>
          </a:p>
        </p:txBody>
      </p:sp>
      <p:pic>
        <p:nvPicPr>
          <p:cNvPr id="15" name="Picture 14">
            <a:extLst>
              <a:ext uri="{FF2B5EF4-FFF2-40B4-BE49-F238E27FC236}">
                <a16:creationId xmlns:a16="http://schemas.microsoft.com/office/drawing/2014/main" id="{6828BF09-78A0-474C-978C-09B9D3ED74CE}"/>
              </a:ext>
            </a:extLst>
          </p:cNvPr>
          <p:cNvPicPr>
            <a:picLocks noChangeAspect="1"/>
          </p:cNvPicPr>
          <p:nvPr/>
        </p:nvPicPr>
        <p:blipFill>
          <a:blip r:embed="rId3"/>
          <a:stretch>
            <a:fillRect/>
          </a:stretch>
        </p:blipFill>
        <p:spPr>
          <a:xfrm>
            <a:off x="5022767" y="2237986"/>
            <a:ext cx="6812003" cy="1348799"/>
          </a:xfrm>
          <a:prstGeom prst="rect">
            <a:avLst/>
          </a:prstGeom>
        </p:spPr>
      </p:pic>
    </p:spTree>
    <p:extLst>
      <p:ext uri="{BB962C8B-B14F-4D97-AF65-F5344CB8AC3E}">
        <p14:creationId xmlns:p14="http://schemas.microsoft.com/office/powerpoint/2010/main" val="338037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5041829"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使用 </a:t>
            </a:r>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logistic Regression</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模型</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4" name="TextBox 3">
            <a:extLst>
              <a:ext uri="{FF2B5EF4-FFF2-40B4-BE49-F238E27FC236}">
                <a16:creationId xmlns:a16="http://schemas.microsoft.com/office/drawing/2014/main" id="{CE8C1A79-976A-478F-8676-F07175349DAD}"/>
              </a:ext>
            </a:extLst>
          </p:cNvPr>
          <p:cNvSpPr txBox="1"/>
          <p:nvPr/>
        </p:nvSpPr>
        <p:spPr>
          <a:xfrm>
            <a:off x="424069" y="1325218"/>
            <a:ext cx="6149395" cy="779572"/>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將 </a:t>
            </a:r>
            <a:r>
              <a:rPr lang="en-US" altLang="zh-TW" sz="2000" b="1" dirty="0">
                <a:latin typeface="Microsoft JhengHei" panose="020B0604030504040204" pitchFamily="34" charset="-120"/>
                <a:ea typeface="Microsoft JhengHei" panose="020B0604030504040204" pitchFamily="34" charset="-120"/>
              </a:rPr>
              <a:t>30% </a:t>
            </a:r>
            <a:r>
              <a:rPr lang="zh-TW" altLang="en-US" sz="2000" b="1" dirty="0">
                <a:latin typeface="Microsoft JhengHei" panose="020B0604030504040204" pitchFamily="34" charset="-120"/>
                <a:ea typeface="Microsoft JhengHei" panose="020B0604030504040204" pitchFamily="34" charset="-120"/>
              </a:rPr>
              <a:t>資料集作為 </a:t>
            </a:r>
            <a:r>
              <a:rPr lang="en-US" altLang="zh-TW" sz="2000" b="1" dirty="0">
                <a:latin typeface="Microsoft JhengHei" panose="020B0604030504040204" pitchFamily="34" charset="-120"/>
                <a:ea typeface="Microsoft JhengHei" panose="020B0604030504040204" pitchFamily="34" charset="-120"/>
              </a:rPr>
              <a:t>testing set</a:t>
            </a:r>
            <a:r>
              <a:rPr lang="zh-TW" altLang="en-US" sz="2000" b="1" dirty="0">
                <a:latin typeface="Microsoft JhengHei" panose="020B0604030504040204" pitchFamily="34" charset="-120"/>
                <a:ea typeface="Microsoft JhengHei" panose="020B0604030504040204" pitchFamily="34" charset="-120"/>
              </a:rPr>
              <a:t>，</a:t>
            </a:r>
            <a:r>
              <a:rPr lang="en-US" altLang="zh-TW" sz="2000" b="1" dirty="0">
                <a:latin typeface="Microsoft JhengHei" panose="020B0604030504040204" pitchFamily="34" charset="-120"/>
                <a:ea typeface="Microsoft JhengHei" panose="020B0604030504040204" pitchFamily="34" charset="-120"/>
              </a:rPr>
              <a:t>70%</a:t>
            </a:r>
            <a:r>
              <a:rPr lang="zh-TW" altLang="en-US" sz="2000" b="1" dirty="0">
                <a:latin typeface="Microsoft JhengHei" panose="020B0604030504040204" pitchFamily="34" charset="-120"/>
                <a:ea typeface="Microsoft JhengHei" panose="020B0604030504040204" pitchFamily="34" charset="-120"/>
              </a:rPr>
              <a:t>作為 </a:t>
            </a:r>
            <a:r>
              <a:rPr lang="en-US" altLang="zh-TW" sz="2000" b="1" dirty="0">
                <a:latin typeface="Microsoft JhengHei" panose="020B0604030504040204" pitchFamily="34" charset="-120"/>
                <a:ea typeface="Microsoft JhengHei" panose="020B0604030504040204" pitchFamily="34" charset="-120"/>
              </a:rPr>
              <a:t>training set</a:t>
            </a:r>
            <a:r>
              <a:rPr lang="zh-TW" altLang="en-US" sz="2000" b="1" dirty="0">
                <a:latin typeface="Microsoft JhengHei" panose="020B0604030504040204" pitchFamily="34" charset="-120"/>
                <a:ea typeface="Microsoft JhengHei" panose="020B0604030504040204" pitchFamily="34" charset="-120"/>
              </a:rPr>
              <a:t>。</a:t>
            </a:r>
            <a:endParaRPr lang="en-US" altLang="zh-TW" sz="2000" b="1" dirty="0">
              <a:latin typeface="Microsoft JhengHei" panose="020B0604030504040204" pitchFamily="34" charset="-120"/>
              <a:ea typeface="Microsoft JhengHei" panose="020B0604030504040204" pitchFamily="34" charset="-120"/>
            </a:endParaRPr>
          </a:p>
        </p:txBody>
      </p:sp>
      <p:pic>
        <p:nvPicPr>
          <p:cNvPr id="17" name="Picture 16">
            <a:extLst>
              <a:ext uri="{FF2B5EF4-FFF2-40B4-BE49-F238E27FC236}">
                <a16:creationId xmlns:a16="http://schemas.microsoft.com/office/drawing/2014/main" id="{964030F7-C3AF-4EDF-BE19-65BE18A49C83}"/>
              </a:ext>
            </a:extLst>
          </p:cNvPr>
          <p:cNvPicPr>
            <a:picLocks noChangeAspect="1"/>
          </p:cNvPicPr>
          <p:nvPr/>
        </p:nvPicPr>
        <p:blipFill rotWithShape="1">
          <a:blip r:embed="rId2"/>
          <a:srcRect b="42228"/>
          <a:stretch/>
        </p:blipFill>
        <p:spPr>
          <a:xfrm>
            <a:off x="7749260" y="1075023"/>
            <a:ext cx="4240697" cy="2059534"/>
          </a:xfrm>
          <a:prstGeom prst="rect">
            <a:avLst/>
          </a:prstGeom>
        </p:spPr>
      </p:pic>
      <p:sp>
        <p:nvSpPr>
          <p:cNvPr id="18" name="TextBox 17">
            <a:extLst>
              <a:ext uri="{FF2B5EF4-FFF2-40B4-BE49-F238E27FC236}">
                <a16:creationId xmlns:a16="http://schemas.microsoft.com/office/drawing/2014/main" id="{8A94BFAC-52BE-4087-A464-B53C601C07A8}"/>
              </a:ext>
            </a:extLst>
          </p:cNvPr>
          <p:cNvSpPr txBox="1"/>
          <p:nvPr/>
        </p:nvSpPr>
        <p:spPr>
          <a:xfrm>
            <a:off x="177289" y="5601884"/>
            <a:ext cx="3416320" cy="414601"/>
          </a:xfrm>
          <a:prstGeom prst="rect">
            <a:avLst/>
          </a:prstGeom>
          <a:noFill/>
        </p:spPr>
        <p:txBody>
          <a:bodyPr wrap="none" rtlCol="0">
            <a:spAutoFit/>
          </a:bodyPr>
          <a:lstStyle/>
          <a:p>
            <a:pPr>
              <a:lnSpc>
                <a:spcPts val="2800"/>
              </a:lnSpc>
              <a:spcBef>
                <a:spcPts val="1200"/>
              </a:spcBef>
            </a:pPr>
            <a:r>
              <a:rPr lang="zh-TW" altLang="en-US" b="1" dirty="0">
                <a:latin typeface="Microsoft JhengHei" panose="020B0604030504040204" pitchFamily="34" charset="-120"/>
                <a:ea typeface="Microsoft JhengHei" panose="020B0604030504040204" pitchFamily="34" charset="-120"/>
              </a:rPr>
              <a:t>→偶爾有極高值，但變動幅度大</a:t>
            </a:r>
            <a:endParaRPr lang="en-US" b="1" dirty="0">
              <a:latin typeface="Microsoft JhengHei" panose="020B0604030504040204" pitchFamily="34" charset="-120"/>
              <a:ea typeface="Microsoft JhengHei" panose="020B0604030504040204" pitchFamily="34" charset="-120"/>
            </a:endParaRPr>
          </a:p>
        </p:txBody>
      </p:sp>
      <p:pic>
        <p:nvPicPr>
          <p:cNvPr id="19" name="Picture 18">
            <a:extLst>
              <a:ext uri="{FF2B5EF4-FFF2-40B4-BE49-F238E27FC236}">
                <a16:creationId xmlns:a16="http://schemas.microsoft.com/office/drawing/2014/main" id="{95FCE105-CB29-4F8A-9B1A-E7C988017CE8}"/>
              </a:ext>
            </a:extLst>
          </p:cNvPr>
          <p:cNvPicPr>
            <a:picLocks noChangeAspect="1"/>
          </p:cNvPicPr>
          <p:nvPr/>
        </p:nvPicPr>
        <p:blipFill>
          <a:blip r:embed="rId3"/>
          <a:stretch>
            <a:fillRect/>
          </a:stretch>
        </p:blipFill>
        <p:spPr>
          <a:xfrm>
            <a:off x="804879" y="3927094"/>
            <a:ext cx="2419688" cy="1476581"/>
          </a:xfrm>
          <a:prstGeom prst="rect">
            <a:avLst/>
          </a:prstGeom>
        </p:spPr>
      </p:pic>
      <p:pic>
        <p:nvPicPr>
          <p:cNvPr id="20" name="Picture 19" descr="A picture containing text&#10;&#10;Description automatically generated">
            <a:extLst>
              <a:ext uri="{FF2B5EF4-FFF2-40B4-BE49-F238E27FC236}">
                <a16:creationId xmlns:a16="http://schemas.microsoft.com/office/drawing/2014/main" id="{5330C14A-985F-4384-9F5A-A597E1313C1C}"/>
              </a:ext>
            </a:extLst>
          </p:cNvPr>
          <p:cNvPicPr>
            <a:picLocks noChangeAspect="1"/>
          </p:cNvPicPr>
          <p:nvPr/>
        </p:nvPicPr>
        <p:blipFill rotWithShape="1">
          <a:blip r:embed="rId4">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sp>
        <p:nvSpPr>
          <p:cNvPr id="21" name="TextBox 20">
            <a:extLst>
              <a:ext uri="{FF2B5EF4-FFF2-40B4-BE49-F238E27FC236}">
                <a16:creationId xmlns:a16="http://schemas.microsoft.com/office/drawing/2014/main" id="{E08E78DA-401F-4790-9EE4-2EFF3CE03FCC}"/>
              </a:ext>
            </a:extLst>
          </p:cNvPr>
          <p:cNvSpPr txBox="1"/>
          <p:nvPr/>
        </p:nvSpPr>
        <p:spPr>
          <a:xfrm>
            <a:off x="424068" y="2458278"/>
            <a:ext cx="6149395" cy="420500"/>
          </a:xfrm>
          <a:prstGeom prst="rect">
            <a:avLst/>
          </a:prstGeom>
          <a:noFill/>
        </p:spPr>
        <p:txBody>
          <a:bodyPr wrap="square" rtlCol="0">
            <a:spAutoFit/>
          </a:bodyPr>
          <a:lstStyle/>
          <a:p>
            <a:pPr marL="342900" indent="-342900">
              <a:lnSpc>
                <a:spcPts val="2800"/>
              </a:lnSpc>
              <a:spcBef>
                <a:spcPts val="1200"/>
              </a:spcBef>
              <a:buFont typeface="Arial" panose="020B0604020202020204" pitchFamily="34" charset="0"/>
              <a:buChar char="•"/>
            </a:pPr>
            <a:r>
              <a:rPr lang="en-US" altLang="zh-TW" sz="2000" b="1" dirty="0">
                <a:latin typeface="Microsoft JhengHei" panose="020B0604030504040204" pitchFamily="34" charset="-120"/>
                <a:ea typeface="Microsoft JhengHei" panose="020B0604030504040204" pitchFamily="34" charset="-120"/>
              </a:rPr>
              <a:t>Ex: </a:t>
            </a:r>
            <a:r>
              <a:rPr lang="zh-TW" altLang="en-US" sz="2000" b="1" dirty="0">
                <a:latin typeface="Microsoft JhengHei" panose="020B0604030504040204" pitchFamily="34" charset="-120"/>
                <a:ea typeface="Microsoft JhengHei" panose="020B0604030504040204" pitchFamily="34" charset="-120"/>
              </a:rPr>
              <a:t>計算之錯誤數與判定</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的機率如下</a:t>
            </a:r>
            <a:endParaRPr lang="en-US" altLang="zh-TW" sz="2000" b="1" dirty="0">
              <a:latin typeface="Microsoft JhengHei" panose="020B0604030504040204" pitchFamily="34" charset="-120"/>
              <a:ea typeface="Microsoft JhengHei" panose="020B0604030504040204" pitchFamily="34" charset="-120"/>
            </a:endParaRPr>
          </a:p>
        </p:txBody>
      </p:sp>
      <p:sp>
        <p:nvSpPr>
          <p:cNvPr id="22" name="TextBox 21">
            <a:extLst>
              <a:ext uri="{FF2B5EF4-FFF2-40B4-BE49-F238E27FC236}">
                <a16:creationId xmlns:a16="http://schemas.microsoft.com/office/drawing/2014/main" id="{E79BB612-564F-41E8-8AD9-93C67A1AE1D6}"/>
              </a:ext>
            </a:extLst>
          </p:cNvPr>
          <p:cNvSpPr txBox="1"/>
          <p:nvPr/>
        </p:nvSpPr>
        <p:spPr>
          <a:xfrm>
            <a:off x="4585805" y="3520878"/>
            <a:ext cx="2441694" cy="414601"/>
          </a:xfrm>
          <a:prstGeom prst="rect">
            <a:avLst/>
          </a:prstGeom>
          <a:noFill/>
        </p:spPr>
        <p:txBody>
          <a:bodyPr wrap="none" rtlCol="0">
            <a:spAutoFit/>
          </a:bodyPr>
          <a:lstStyle/>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zh-TW" altLang="en-US" b="1" dirty="0">
                <a:latin typeface="Microsoft JhengHei" panose="020B0604030504040204" pitchFamily="34" charset="-120"/>
                <a:ea typeface="Microsoft JhengHei" panose="020B0604030504040204" pitchFamily="34" charset="-120"/>
              </a:rPr>
              <a:t>「理想個性評分」</a:t>
            </a:r>
            <a:endParaRPr lang="en-US" b="1" dirty="0">
              <a:latin typeface="Microsoft JhengHei" panose="020B0604030504040204" pitchFamily="34" charset="-120"/>
              <a:ea typeface="Microsoft JhengHei" panose="020B0604030504040204" pitchFamily="34" charset="-120"/>
            </a:endParaRPr>
          </a:p>
        </p:txBody>
      </p:sp>
      <p:pic>
        <p:nvPicPr>
          <p:cNvPr id="23" name="Picture 22">
            <a:extLst>
              <a:ext uri="{FF2B5EF4-FFF2-40B4-BE49-F238E27FC236}">
                <a16:creationId xmlns:a16="http://schemas.microsoft.com/office/drawing/2014/main" id="{DB24F546-80CB-43DB-BA91-4EC0909F8E5E}"/>
              </a:ext>
            </a:extLst>
          </p:cNvPr>
          <p:cNvPicPr>
            <a:picLocks noChangeAspect="1"/>
          </p:cNvPicPr>
          <p:nvPr/>
        </p:nvPicPr>
        <p:blipFill>
          <a:blip r:embed="rId5"/>
          <a:stretch>
            <a:fillRect/>
          </a:stretch>
        </p:blipFill>
        <p:spPr>
          <a:xfrm>
            <a:off x="4684047" y="3927094"/>
            <a:ext cx="2223106" cy="1551980"/>
          </a:xfrm>
          <a:prstGeom prst="rect">
            <a:avLst/>
          </a:prstGeom>
        </p:spPr>
      </p:pic>
      <p:pic>
        <p:nvPicPr>
          <p:cNvPr id="24" name="Picture 23">
            <a:extLst>
              <a:ext uri="{FF2B5EF4-FFF2-40B4-BE49-F238E27FC236}">
                <a16:creationId xmlns:a16="http://schemas.microsoft.com/office/drawing/2014/main" id="{91DA218F-05FD-4B84-8F08-0817C83EC22F}"/>
              </a:ext>
            </a:extLst>
          </p:cNvPr>
          <p:cNvPicPr>
            <a:picLocks noChangeAspect="1"/>
          </p:cNvPicPr>
          <p:nvPr/>
        </p:nvPicPr>
        <p:blipFill>
          <a:blip r:embed="rId6"/>
          <a:stretch>
            <a:fillRect/>
          </a:stretch>
        </p:blipFill>
        <p:spPr>
          <a:xfrm>
            <a:off x="8445164" y="3927094"/>
            <a:ext cx="2223106" cy="1495187"/>
          </a:xfrm>
          <a:prstGeom prst="rect">
            <a:avLst/>
          </a:prstGeom>
        </p:spPr>
      </p:pic>
      <p:sp>
        <p:nvSpPr>
          <p:cNvPr id="25" name="TextBox 24">
            <a:extLst>
              <a:ext uri="{FF2B5EF4-FFF2-40B4-BE49-F238E27FC236}">
                <a16:creationId xmlns:a16="http://schemas.microsoft.com/office/drawing/2014/main" id="{E95CE9A6-ED3C-4477-AFB7-BF1873CA205D}"/>
              </a:ext>
            </a:extLst>
          </p:cNvPr>
          <p:cNvSpPr txBox="1"/>
          <p:nvPr/>
        </p:nvSpPr>
        <p:spPr>
          <a:xfrm>
            <a:off x="8682118" y="3473132"/>
            <a:ext cx="1749197" cy="414601"/>
          </a:xfrm>
          <a:prstGeom prst="rect">
            <a:avLst/>
          </a:prstGeom>
          <a:noFill/>
        </p:spPr>
        <p:txBody>
          <a:bodyPr wrap="none" rtlCol="0">
            <a:spAutoFit/>
          </a:bodyPr>
          <a:lstStyle/>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zh-TW" altLang="en-US" b="1" dirty="0">
                <a:latin typeface="Microsoft JhengHei" panose="020B0604030504040204" pitchFamily="34" charset="-120"/>
                <a:ea typeface="Microsoft JhengHei" panose="020B0604030504040204" pitchFamily="34" charset="-120"/>
              </a:rPr>
              <a:t>「被評分」</a:t>
            </a:r>
            <a:endParaRPr lang="en-US" b="1" dirty="0">
              <a:latin typeface="Microsoft JhengHei" panose="020B0604030504040204" pitchFamily="34" charset="-120"/>
              <a:ea typeface="Microsoft JhengHei" panose="020B0604030504040204" pitchFamily="34" charset="-120"/>
            </a:endParaRPr>
          </a:p>
        </p:txBody>
      </p:sp>
      <p:sp>
        <p:nvSpPr>
          <p:cNvPr id="26" name="TextBox 25">
            <a:extLst>
              <a:ext uri="{FF2B5EF4-FFF2-40B4-BE49-F238E27FC236}">
                <a16:creationId xmlns:a16="http://schemas.microsoft.com/office/drawing/2014/main" id="{B9DF2DB9-C151-4A50-AA90-BC9FB849C449}"/>
              </a:ext>
            </a:extLst>
          </p:cNvPr>
          <p:cNvSpPr txBox="1"/>
          <p:nvPr/>
        </p:nvSpPr>
        <p:spPr>
          <a:xfrm>
            <a:off x="957278" y="3520878"/>
            <a:ext cx="2210862" cy="414601"/>
          </a:xfrm>
          <a:prstGeom prst="rect">
            <a:avLst/>
          </a:prstGeom>
          <a:noFill/>
        </p:spPr>
        <p:txBody>
          <a:bodyPr wrap="none" rtlCol="0">
            <a:spAutoFit/>
          </a:bodyPr>
          <a:lstStyle/>
          <a:p>
            <a:pPr>
              <a:lnSpc>
                <a:spcPts val="2800"/>
              </a:lnSpc>
              <a:spcBef>
                <a:spcPts val="1200"/>
              </a:spcBef>
            </a:pPr>
            <a:r>
              <a:rPr lang="en-US" b="1" dirty="0">
                <a:latin typeface="Microsoft JhengHei" panose="020B0604030504040204" pitchFamily="34" charset="-120"/>
                <a:ea typeface="Microsoft JhengHei" panose="020B0604030504040204" pitchFamily="34" charset="-120"/>
              </a:rPr>
              <a:t>x = </a:t>
            </a:r>
            <a:r>
              <a:rPr lang="zh-TW" altLang="en-US" b="1" dirty="0">
                <a:latin typeface="Microsoft JhengHei" panose="020B0604030504040204" pitchFamily="34" charset="-120"/>
                <a:ea typeface="Microsoft JhengHei" panose="020B0604030504040204" pitchFamily="34" charset="-120"/>
              </a:rPr>
              <a:t>「對他人評分」</a:t>
            </a:r>
            <a:endParaRPr lang="en-US" b="1" dirty="0">
              <a:latin typeface="Microsoft JhengHei" panose="020B0604030504040204" pitchFamily="34" charset="-120"/>
              <a:ea typeface="Microsoft JhengHei" panose="020B0604030504040204" pitchFamily="34" charset="-120"/>
            </a:endParaRPr>
          </a:p>
        </p:txBody>
      </p:sp>
      <p:sp>
        <p:nvSpPr>
          <p:cNvPr id="28" name="TextBox 27">
            <a:extLst>
              <a:ext uri="{FF2B5EF4-FFF2-40B4-BE49-F238E27FC236}">
                <a16:creationId xmlns:a16="http://schemas.microsoft.com/office/drawing/2014/main" id="{0FFF3127-39CD-4E19-9FCF-448E8AB3C1DF}"/>
              </a:ext>
            </a:extLst>
          </p:cNvPr>
          <p:cNvSpPr txBox="1"/>
          <p:nvPr/>
        </p:nvSpPr>
        <p:spPr>
          <a:xfrm>
            <a:off x="4631038" y="5584846"/>
            <a:ext cx="2262158" cy="414601"/>
          </a:xfrm>
          <a:prstGeom prst="rect">
            <a:avLst/>
          </a:prstGeom>
          <a:noFill/>
        </p:spPr>
        <p:txBody>
          <a:bodyPr wrap="none" rtlCol="0">
            <a:spAutoFit/>
          </a:bodyPr>
          <a:lstStyle/>
          <a:p>
            <a:pPr>
              <a:lnSpc>
                <a:spcPts val="2800"/>
              </a:lnSpc>
              <a:spcBef>
                <a:spcPts val="1200"/>
              </a:spcBef>
            </a:pPr>
            <a:r>
              <a:rPr lang="zh-TW" altLang="en-US" b="1" dirty="0">
                <a:latin typeface="Microsoft JhengHei" panose="020B0604030504040204" pitchFamily="34" charset="-120"/>
                <a:ea typeface="Microsoft JhengHei" panose="020B0604030504040204" pitchFamily="34" charset="-120"/>
              </a:rPr>
              <a:t>→變動幅度均較穩定</a:t>
            </a:r>
            <a:endParaRPr lang="en-US" b="1" dirty="0">
              <a:latin typeface="Microsoft JhengHei" panose="020B0604030504040204" pitchFamily="34" charset="-120"/>
              <a:ea typeface="Microsoft JhengHei" panose="020B0604030504040204" pitchFamily="34" charset="-120"/>
            </a:endParaRPr>
          </a:p>
        </p:txBody>
      </p:sp>
      <p:sp>
        <p:nvSpPr>
          <p:cNvPr id="29" name="TextBox 28">
            <a:extLst>
              <a:ext uri="{FF2B5EF4-FFF2-40B4-BE49-F238E27FC236}">
                <a16:creationId xmlns:a16="http://schemas.microsoft.com/office/drawing/2014/main" id="{8E2DE16F-3364-42D7-8F80-D8E9B45B085F}"/>
              </a:ext>
            </a:extLst>
          </p:cNvPr>
          <p:cNvSpPr txBox="1"/>
          <p:nvPr/>
        </p:nvSpPr>
        <p:spPr>
          <a:xfrm>
            <a:off x="8682118" y="5575676"/>
            <a:ext cx="1800493" cy="414601"/>
          </a:xfrm>
          <a:prstGeom prst="rect">
            <a:avLst/>
          </a:prstGeom>
          <a:noFill/>
        </p:spPr>
        <p:txBody>
          <a:bodyPr wrap="none" rtlCol="0">
            <a:spAutoFit/>
          </a:bodyPr>
          <a:lstStyle/>
          <a:p>
            <a:pPr>
              <a:lnSpc>
                <a:spcPts val="2800"/>
              </a:lnSpc>
              <a:spcBef>
                <a:spcPts val="1200"/>
              </a:spcBef>
            </a:pPr>
            <a:r>
              <a:rPr lang="zh-TW" altLang="en-US" b="1" dirty="0">
                <a:latin typeface="Microsoft JhengHei" panose="020B0604030504040204" pitchFamily="34" charset="-120"/>
                <a:ea typeface="Microsoft JhengHei" panose="020B0604030504040204" pitchFamily="34" charset="-120"/>
              </a:rPr>
              <a:t>→偶爾有中間值</a:t>
            </a:r>
            <a:endParaRPr lang="en-US" b="1"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3553990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6598281"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使用 </a:t>
            </a:r>
            <a:r>
              <a:rPr lang="en-US" altLang="zh-TW" sz="2800" b="1" dirty="0" err="1">
                <a:latin typeface="Microsoft JhengHei" panose="020B0604030504040204" pitchFamily="34" charset="-120"/>
                <a:ea typeface="Microsoft JhengHei" panose="020B0604030504040204" pitchFamily="34" charset="-120"/>
                <a:cs typeface="Microsoft Tai Le" panose="020B0502040204020203" pitchFamily="34" charset="0"/>
              </a:rPr>
              <a:t>Xgboost</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模型選擇有效 </a:t>
            </a:r>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parameter</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9" name="TextBox 8">
            <a:extLst>
              <a:ext uri="{FF2B5EF4-FFF2-40B4-BE49-F238E27FC236}">
                <a16:creationId xmlns:a16="http://schemas.microsoft.com/office/drawing/2014/main" id="{B823CADC-1D13-43AB-817A-CDA0BB29DE04}"/>
              </a:ext>
            </a:extLst>
          </p:cNvPr>
          <p:cNvSpPr txBox="1"/>
          <p:nvPr/>
        </p:nvSpPr>
        <p:spPr>
          <a:xfrm>
            <a:off x="417443" y="1207818"/>
            <a:ext cx="10538013" cy="420500"/>
          </a:xfrm>
          <a:prstGeom prst="rect">
            <a:avLst/>
          </a:prstGeom>
          <a:noFill/>
        </p:spPr>
        <p:txBody>
          <a:bodyPr wrap="non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目的：選擇出影響配對兩人是否會</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的最少有效因子，預測分類，並計算模型準確率</a:t>
            </a:r>
            <a:endParaRPr lang="en-US" sz="2000" b="1" dirty="0">
              <a:latin typeface="Microsoft JhengHei" panose="020B0604030504040204" pitchFamily="34" charset="-120"/>
              <a:ea typeface="Microsoft JhengHei" panose="020B0604030504040204" pitchFamily="34" charset="-120"/>
            </a:endParaRPr>
          </a:p>
        </p:txBody>
      </p:sp>
      <p:sp>
        <p:nvSpPr>
          <p:cNvPr id="10" name="TextBox 9">
            <a:extLst>
              <a:ext uri="{FF2B5EF4-FFF2-40B4-BE49-F238E27FC236}">
                <a16:creationId xmlns:a16="http://schemas.microsoft.com/office/drawing/2014/main" id="{64E0961A-DD2B-4E9E-808A-1F192FFA3B1C}"/>
              </a:ext>
            </a:extLst>
          </p:cNvPr>
          <p:cNvSpPr txBox="1"/>
          <p:nvPr/>
        </p:nvSpPr>
        <p:spPr>
          <a:xfrm>
            <a:off x="424069" y="1872234"/>
            <a:ext cx="1300356" cy="420500"/>
          </a:xfrm>
          <a:prstGeom prst="rect">
            <a:avLst/>
          </a:prstGeom>
          <a:noFill/>
        </p:spPr>
        <p:txBody>
          <a:bodyPr wrap="none" rtlCol="0">
            <a:spAutoFit/>
          </a:bodyPr>
          <a:lstStyle/>
          <a:p>
            <a:pPr marL="342900" indent="-342900">
              <a:lnSpc>
                <a:spcPts val="28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做法：</a:t>
            </a:r>
          </a:p>
        </p:txBody>
      </p:sp>
      <p:sp>
        <p:nvSpPr>
          <p:cNvPr id="4" name="TextBox 3">
            <a:extLst>
              <a:ext uri="{FF2B5EF4-FFF2-40B4-BE49-F238E27FC236}">
                <a16:creationId xmlns:a16="http://schemas.microsoft.com/office/drawing/2014/main" id="{C806C394-7CA8-48BB-8B20-7A4E4DAC78B3}"/>
              </a:ext>
            </a:extLst>
          </p:cNvPr>
          <p:cNvSpPr txBox="1"/>
          <p:nvPr/>
        </p:nvSpPr>
        <p:spPr>
          <a:xfrm>
            <a:off x="1074247" y="2584174"/>
            <a:ext cx="10538013" cy="3344377"/>
          </a:xfrm>
          <a:prstGeom prst="rect">
            <a:avLst/>
          </a:prstGeom>
          <a:noFill/>
        </p:spPr>
        <p:txBody>
          <a:bodyPr wrap="square" rtlCol="0">
            <a:spAutoFit/>
          </a:bodyPr>
          <a:lstStyle/>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隨機取資料集中</a:t>
            </a:r>
            <a:r>
              <a:rPr lang="en-US" altLang="zh-TW" sz="2000" b="1" dirty="0">
                <a:latin typeface="Microsoft JhengHei" panose="020B0604030504040204" pitchFamily="34" charset="-120"/>
                <a:ea typeface="Microsoft JhengHei" panose="020B0604030504040204" pitchFamily="34" charset="-120"/>
              </a:rPr>
              <a:t> 1/5</a:t>
            </a:r>
            <a:r>
              <a:rPr lang="zh-TW" altLang="en-US" sz="2000" b="1" dirty="0">
                <a:latin typeface="Microsoft JhengHei" panose="020B0604030504040204" pitchFamily="34" charset="-120"/>
                <a:ea typeface="Microsoft JhengHei" panose="020B0604030504040204" pitchFamily="34" charset="-120"/>
              </a:rPr>
              <a:t> 的資料作為</a:t>
            </a:r>
            <a:r>
              <a:rPr lang="en-US" altLang="zh-TW" sz="2000" b="1" dirty="0">
                <a:latin typeface="Microsoft JhengHei" panose="020B0604030504040204" pitchFamily="34" charset="-120"/>
                <a:ea typeface="Microsoft JhengHei" panose="020B0604030504040204" pitchFamily="34" charset="-120"/>
              </a:rPr>
              <a:t>	testing set</a:t>
            </a:r>
            <a:r>
              <a:rPr lang="zh-TW" altLang="en-US" sz="2000" b="1" dirty="0">
                <a:latin typeface="Microsoft JhengHei" panose="020B0604030504040204" pitchFamily="34" charset="-120"/>
                <a:ea typeface="Microsoft JhengHei" panose="020B0604030504040204" pitchFamily="34" charset="-120"/>
              </a:rPr>
              <a:t>，剩餘的 </a:t>
            </a:r>
            <a:r>
              <a:rPr lang="en-US" altLang="zh-TW" sz="2000" b="1" dirty="0">
                <a:latin typeface="Microsoft JhengHei" panose="020B0604030504040204" pitchFamily="34" charset="-120"/>
                <a:ea typeface="Microsoft JhengHei" panose="020B0604030504040204" pitchFamily="34" charset="-120"/>
              </a:rPr>
              <a:t>4 /5 </a:t>
            </a:r>
            <a:r>
              <a:rPr lang="zh-TW" altLang="en-US" sz="2000" b="1" dirty="0">
                <a:latin typeface="Microsoft JhengHei" panose="020B0604030504040204" pitchFamily="34" charset="-120"/>
                <a:ea typeface="Microsoft JhengHei" panose="020B0604030504040204" pitchFamily="34" charset="-120"/>
              </a:rPr>
              <a:t>作為 </a:t>
            </a:r>
            <a:r>
              <a:rPr lang="en-US" altLang="zh-TW" sz="2000" b="1" dirty="0">
                <a:latin typeface="Microsoft JhengHei" panose="020B0604030504040204" pitchFamily="34" charset="-120"/>
                <a:ea typeface="Microsoft JhengHei" panose="020B0604030504040204" pitchFamily="34" charset="-120"/>
              </a:rPr>
              <a:t>training set</a:t>
            </a:r>
            <a:r>
              <a:rPr lang="zh-TW" altLang="en-US" sz="2000" b="1" dirty="0">
                <a:latin typeface="Microsoft JhengHei" panose="020B0604030504040204" pitchFamily="34" charset="-120"/>
                <a:ea typeface="Microsoft JhengHei" panose="020B0604030504040204" pitchFamily="34" charset="-120"/>
              </a:rPr>
              <a:t>。</a:t>
            </a:r>
            <a:endParaRPr lang="en-US" altLang="zh-TW" sz="2000" b="1" dirty="0">
              <a:latin typeface="Microsoft JhengHei" panose="020B0604030504040204" pitchFamily="34" charset="-120"/>
              <a:ea typeface="Microsoft JhengHei" panose="020B0604030504040204" pitchFamily="34" charset="-120"/>
            </a:endParaRPr>
          </a:p>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將 </a:t>
            </a:r>
            <a:r>
              <a:rPr lang="en-US" altLang="zh-TW" sz="2000" b="1" dirty="0">
                <a:latin typeface="Microsoft JhengHei" panose="020B0604030504040204" pitchFamily="34" charset="-120"/>
                <a:ea typeface="Microsoft JhengHei" panose="020B0604030504040204" pitchFamily="34" charset="-120"/>
              </a:rPr>
              <a:t>match </a:t>
            </a:r>
            <a:r>
              <a:rPr lang="zh-TW" altLang="en-US" sz="2000" b="1" dirty="0">
                <a:latin typeface="Microsoft JhengHei" panose="020B0604030504040204" pitchFamily="34" charset="-120"/>
                <a:ea typeface="Microsoft JhengHei" panose="020B0604030504040204" pitchFamily="34" charset="-120"/>
              </a:rPr>
              <a:t>成功</a:t>
            </a:r>
            <a:r>
              <a:rPr lang="en-US" altLang="zh-TW" sz="2000" b="1" dirty="0">
                <a:latin typeface="Microsoft JhengHei" panose="020B0604030504040204" pitchFamily="34" charset="-120"/>
                <a:ea typeface="Microsoft JhengHei" panose="020B0604030504040204" pitchFamily="34" charset="-120"/>
              </a:rPr>
              <a:t>(match = 1)</a:t>
            </a:r>
            <a:r>
              <a:rPr lang="zh-TW" altLang="en-US" sz="2000" b="1" dirty="0">
                <a:latin typeface="Microsoft JhengHei" panose="020B0604030504040204" pitchFamily="34" charset="-120"/>
                <a:ea typeface="Microsoft JhengHei" panose="020B0604030504040204" pitchFamily="34" charset="-120"/>
              </a:rPr>
              <a:t>的資料放大五倍</a:t>
            </a:r>
            <a:endParaRPr lang="en-US" altLang="zh-TW" sz="2000" b="1" dirty="0">
              <a:latin typeface="Microsoft JhengHei" panose="020B0604030504040204" pitchFamily="34" charset="-120"/>
              <a:ea typeface="Microsoft JhengHei" panose="020B0604030504040204" pitchFamily="34" charset="-120"/>
            </a:endParaRPr>
          </a:p>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使用</a:t>
            </a:r>
            <a:r>
              <a:rPr lang="en-US" altLang="zh-TW" sz="2000" b="1" dirty="0" err="1">
                <a:latin typeface="Microsoft JhengHei" panose="020B0604030504040204" pitchFamily="34" charset="-120"/>
                <a:ea typeface="Microsoft JhengHei" panose="020B0604030504040204" pitchFamily="34" charset="-120"/>
              </a:rPr>
              <a:t>Xgboost</a:t>
            </a:r>
            <a:r>
              <a:rPr lang="zh-TW" altLang="en-US" sz="2000" b="1" dirty="0">
                <a:latin typeface="Microsoft JhengHei" panose="020B0604030504040204" pitchFamily="34" charset="-120"/>
                <a:ea typeface="Microsoft JhengHei" panose="020B0604030504040204" pitchFamily="34" charset="-120"/>
              </a:rPr>
              <a:t>模型，依特徵值篩選掉無影響或變異太大的因子</a:t>
            </a:r>
            <a:endParaRPr lang="en-US" altLang="zh-TW" sz="2000" b="1" dirty="0">
              <a:latin typeface="Microsoft JhengHei" panose="020B0604030504040204" pitchFamily="34" charset="-120"/>
              <a:ea typeface="Microsoft JhengHei" panose="020B0604030504040204" pitchFamily="34" charset="-120"/>
            </a:endParaRPr>
          </a:p>
          <a:p>
            <a:pPr>
              <a:lnSpc>
                <a:spcPts val="2800"/>
              </a:lnSpc>
              <a:spcBef>
                <a:spcPts val="1200"/>
              </a:spcBef>
            </a:pPr>
            <a:r>
              <a:rPr lang="zh-TW" altLang="en-US" sz="2000" b="1" dirty="0">
                <a:latin typeface="Microsoft JhengHei" panose="020B0604030504040204" pitchFamily="34" charset="-120"/>
                <a:ea typeface="Microsoft JhengHei" panose="020B0604030504040204" pitchFamily="34" charset="-120"/>
              </a:rPr>
              <a:t>計算最終準確率達到約</a:t>
            </a:r>
            <a:r>
              <a:rPr lang="en-US" altLang="zh-TW" sz="2000" b="1" dirty="0">
                <a:latin typeface="Microsoft JhengHei" panose="020B0604030504040204" pitchFamily="34" charset="-120"/>
                <a:ea typeface="Microsoft JhengHei" panose="020B0604030504040204" pitchFamily="34" charset="-120"/>
              </a:rPr>
              <a:t>84.9%</a:t>
            </a:r>
          </a:p>
          <a:p>
            <a:pPr>
              <a:lnSpc>
                <a:spcPts val="2800"/>
              </a:lnSpc>
              <a:spcBef>
                <a:spcPts val="1200"/>
              </a:spcBef>
            </a:pPr>
            <a:r>
              <a:rPr lang="en-US" altLang="zh-TW" sz="2000" b="1" dirty="0">
                <a:latin typeface="Microsoft JhengHei" panose="020B0604030504040204" pitchFamily="34" charset="-120"/>
                <a:ea typeface="Microsoft JhengHei" panose="020B0604030504040204" pitchFamily="34" charset="-120"/>
                <a:sym typeface="Wingdings" panose="05000000000000000000" pitchFamily="2" charset="2"/>
              </a:rPr>
              <a:t></a:t>
            </a:r>
            <a:r>
              <a:rPr lang="zh-TW" altLang="en-US" sz="2000" b="1" dirty="0">
                <a:latin typeface="Microsoft JhengHei" panose="020B0604030504040204" pitchFamily="34" charset="-120"/>
                <a:ea typeface="Microsoft JhengHei" panose="020B0604030504040204" pitchFamily="34" charset="-120"/>
                <a:sym typeface="Wingdings" panose="05000000000000000000" pitchFamily="2" charset="2"/>
              </a:rPr>
              <a:t>刪除的因子：</a:t>
            </a:r>
            <a:r>
              <a:rPr lang="en-US" altLang="zh-TW" sz="2000" b="1" dirty="0">
                <a:latin typeface="Microsoft JhengHei" panose="020B0604030504040204" pitchFamily="34" charset="-120"/>
                <a:ea typeface="Microsoft JhengHei" panose="020B0604030504040204" pitchFamily="34" charset="-120"/>
                <a:sym typeface="Wingdings" panose="05000000000000000000" pitchFamily="2" charset="2"/>
              </a:rPr>
              <a:t>race, gender, filed, decision, like, </a:t>
            </a:r>
            <a:r>
              <a:rPr lang="en-US" altLang="zh-TW" sz="2000" b="1" dirty="0" err="1">
                <a:latin typeface="Microsoft JhengHei" panose="020B0604030504040204" pitchFamily="34" charset="-120"/>
                <a:ea typeface="Microsoft JhengHei" panose="020B0604030504040204" pitchFamily="34" charset="-120"/>
                <a:sym typeface="Wingdings" panose="05000000000000000000" pitchFamily="2" charset="2"/>
              </a:rPr>
              <a:t>guess_prob_liked</a:t>
            </a:r>
            <a:r>
              <a:rPr lang="en-US" altLang="zh-TW" sz="2000" b="1" dirty="0">
                <a:latin typeface="Microsoft JhengHei" panose="020B0604030504040204" pitchFamily="34" charset="-120"/>
                <a:ea typeface="Microsoft JhengHei" panose="020B0604030504040204" pitchFamily="34" charset="-120"/>
                <a:sym typeface="Wingdings" panose="05000000000000000000" pitchFamily="2" charset="2"/>
              </a:rPr>
              <a:t>, wave, shopping, tv, </a:t>
            </a:r>
            <a:r>
              <a:rPr lang="en-US" altLang="zh-TW" sz="2000" b="1" dirty="0" err="1">
                <a:latin typeface="Microsoft JhengHei" panose="020B0604030504040204" pitchFamily="34" charset="-120"/>
                <a:ea typeface="Microsoft JhengHei" panose="020B0604030504040204" pitchFamily="34" charset="-120"/>
                <a:sym typeface="Wingdings" panose="05000000000000000000" pitchFamily="2" charset="2"/>
              </a:rPr>
              <a:t>shared_interests</a:t>
            </a:r>
            <a:r>
              <a:rPr lang="en-US" altLang="zh-TW" sz="2000" b="1" dirty="0">
                <a:latin typeface="Microsoft JhengHei" panose="020B0604030504040204" pitchFamily="34" charset="-120"/>
                <a:ea typeface="Microsoft JhengHei" panose="020B0604030504040204" pitchFamily="34" charset="-120"/>
                <a:sym typeface="Wingdings" panose="05000000000000000000" pitchFamily="2" charset="2"/>
              </a:rPr>
              <a:t>, </a:t>
            </a:r>
            <a:r>
              <a:rPr lang="en-US" altLang="zh-TW" sz="2000" b="1" dirty="0" err="1">
                <a:latin typeface="Microsoft JhengHei" panose="020B0604030504040204" pitchFamily="34" charset="-120"/>
                <a:ea typeface="Microsoft JhengHei" panose="020B0604030504040204" pitchFamily="34" charset="-120"/>
                <a:sym typeface="Wingdings" panose="05000000000000000000" pitchFamily="2" charset="2"/>
              </a:rPr>
              <a:t>attractive_o</a:t>
            </a:r>
            <a:endParaRPr lang="en-US" dirty="0"/>
          </a:p>
          <a:p>
            <a:pPr>
              <a:lnSpc>
                <a:spcPts val="2800"/>
              </a:lnSpc>
              <a:spcBef>
                <a:spcPts val="1200"/>
              </a:spcBef>
            </a:pPr>
            <a:endParaRPr lang="en-US" altLang="zh-TW" sz="2000" b="1" dirty="0">
              <a:latin typeface="Microsoft JhengHei" panose="020B0604030504040204" pitchFamily="34" charset="-120"/>
              <a:ea typeface="Microsoft JhengHei" panose="020B0604030504040204" pitchFamily="34" charset="-120"/>
            </a:endParaRPr>
          </a:p>
        </p:txBody>
      </p:sp>
      <p:pic>
        <p:nvPicPr>
          <p:cNvPr id="11" name="Picture 10" descr="A picture containing text&#10;&#10;Description automatically generated">
            <a:extLst>
              <a:ext uri="{FF2B5EF4-FFF2-40B4-BE49-F238E27FC236}">
                <a16:creationId xmlns:a16="http://schemas.microsoft.com/office/drawing/2014/main" id="{6AAC640D-8C0E-472D-BADF-8F5810EFBD02}"/>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spTree>
    <p:extLst>
      <p:ext uri="{BB962C8B-B14F-4D97-AF65-F5344CB8AC3E}">
        <p14:creationId xmlns:p14="http://schemas.microsoft.com/office/powerpoint/2010/main" val="3585412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6598281"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使用 </a:t>
            </a:r>
            <a:r>
              <a:rPr lang="en-US" altLang="zh-TW" sz="2800" b="1" dirty="0" err="1">
                <a:latin typeface="Microsoft JhengHei" panose="020B0604030504040204" pitchFamily="34" charset="-120"/>
                <a:ea typeface="Microsoft JhengHei" panose="020B0604030504040204" pitchFamily="34" charset="-120"/>
                <a:cs typeface="Microsoft Tai Le" panose="020B0502040204020203" pitchFamily="34" charset="0"/>
              </a:rPr>
              <a:t>Xgboost</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模型選擇有效 </a:t>
            </a:r>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parameter</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pic>
        <p:nvPicPr>
          <p:cNvPr id="12" name="Picture 11">
            <a:extLst>
              <a:ext uri="{FF2B5EF4-FFF2-40B4-BE49-F238E27FC236}">
                <a16:creationId xmlns:a16="http://schemas.microsoft.com/office/drawing/2014/main" id="{053FDF42-5E62-4A43-A9CD-F2363564FE53}"/>
              </a:ext>
            </a:extLst>
          </p:cNvPr>
          <p:cNvPicPr>
            <a:picLocks noChangeAspect="1"/>
          </p:cNvPicPr>
          <p:nvPr/>
        </p:nvPicPr>
        <p:blipFill>
          <a:blip r:embed="rId2"/>
          <a:stretch>
            <a:fillRect/>
          </a:stretch>
        </p:blipFill>
        <p:spPr>
          <a:xfrm>
            <a:off x="424068" y="1112407"/>
            <a:ext cx="10058401" cy="5766258"/>
          </a:xfrm>
          <a:prstGeom prst="rect">
            <a:avLst/>
          </a:prstGeom>
        </p:spPr>
      </p:pic>
    </p:spTree>
    <p:extLst>
      <p:ext uri="{BB962C8B-B14F-4D97-AF65-F5344CB8AC3E}">
        <p14:creationId xmlns:p14="http://schemas.microsoft.com/office/powerpoint/2010/main" val="384722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6598281"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使用 </a:t>
            </a:r>
            <a:r>
              <a:rPr lang="en-US" altLang="zh-TW" sz="2800" b="1" dirty="0" err="1">
                <a:latin typeface="Microsoft JhengHei" panose="020B0604030504040204" pitchFamily="34" charset="-120"/>
                <a:ea typeface="Microsoft JhengHei" panose="020B0604030504040204" pitchFamily="34" charset="-120"/>
                <a:cs typeface="Microsoft Tai Le" panose="020B0502040204020203" pitchFamily="34" charset="0"/>
              </a:rPr>
              <a:t>Xgboost</a:t>
            </a:r>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 模型選擇有效 </a:t>
            </a:r>
            <a:r>
              <a:rPr lang="en-US" altLang="zh-TW" sz="2800" b="1" dirty="0">
                <a:latin typeface="Microsoft JhengHei" panose="020B0604030504040204" pitchFamily="34" charset="-120"/>
                <a:ea typeface="Microsoft JhengHei" panose="020B0604030504040204" pitchFamily="34" charset="-120"/>
                <a:cs typeface="Microsoft Tai Le" panose="020B0502040204020203" pitchFamily="34" charset="0"/>
              </a:rPr>
              <a:t>parameter</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pic>
        <p:nvPicPr>
          <p:cNvPr id="3" name="Picture 2">
            <a:extLst>
              <a:ext uri="{FF2B5EF4-FFF2-40B4-BE49-F238E27FC236}">
                <a16:creationId xmlns:a16="http://schemas.microsoft.com/office/drawing/2014/main" id="{2C1B7455-F6A4-4F8B-84FD-B9648EAFDC81}"/>
              </a:ext>
            </a:extLst>
          </p:cNvPr>
          <p:cNvPicPr>
            <a:picLocks noChangeAspect="1"/>
          </p:cNvPicPr>
          <p:nvPr/>
        </p:nvPicPr>
        <p:blipFill>
          <a:blip r:embed="rId2"/>
          <a:stretch>
            <a:fillRect/>
          </a:stretch>
        </p:blipFill>
        <p:spPr>
          <a:xfrm>
            <a:off x="424069" y="1151760"/>
            <a:ext cx="10363202" cy="5681797"/>
          </a:xfrm>
          <a:prstGeom prst="rect">
            <a:avLst/>
          </a:prstGeom>
        </p:spPr>
      </p:pic>
    </p:spTree>
    <p:extLst>
      <p:ext uri="{BB962C8B-B14F-4D97-AF65-F5344CB8AC3E}">
        <p14:creationId xmlns:p14="http://schemas.microsoft.com/office/powerpoint/2010/main" val="1894816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C87CCB-541E-482F-AC60-6758EEB37A73}"/>
              </a:ext>
            </a:extLst>
          </p:cNvPr>
          <p:cNvPicPr>
            <a:picLocks noChangeAspect="1"/>
          </p:cNvPicPr>
          <p:nvPr/>
        </p:nvPicPr>
        <p:blipFill rotWithShape="1">
          <a:blip r:embed="rId2">
            <a:extLst>
              <a:ext uri="{28A0092B-C50C-407E-A947-70E740481C1C}">
                <a14:useLocalDpi xmlns:a14="http://schemas.microsoft.com/office/drawing/2010/main" val="0"/>
              </a:ext>
            </a:extLst>
          </a:blip>
          <a:srcRect l="-1182" t="19809" r="1182" b="69756"/>
          <a:stretch/>
        </p:blipFill>
        <p:spPr>
          <a:xfrm>
            <a:off x="-145774" y="6142383"/>
            <a:ext cx="12337774" cy="715617"/>
          </a:xfrm>
          <a:prstGeom prst="rect">
            <a:avLst/>
          </a:prstGeom>
        </p:spPr>
      </p:pic>
      <p:cxnSp>
        <p:nvCxnSpPr>
          <p:cNvPr id="7" name="Straight Connector 6">
            <a:extLst>
              <a:ext uri="{FF2B5EF4-FFF2-40B4-BE49-F238E27FC236}">
                <a16:creationId xmlns:a16="http://schemas.microsoft.com/office/drawing/2014/main" id="{F7DDD914-AE5F-49E6-9D59-57BF4CE3E0E3}"/>
              </a:ext>
            </a:extLst>
          </p:cNvPr>
          <p:cNvCxnSpPr>
            <a:cxnSpLocks/>
          </p:cNvCxnSpPr>
          <p:nvPr/>
        </p:nvCxnSpPr>
        <p:spPr>
          <a:xfrm>
            <a:off x="424069" y="834888"/>
            <a:ext cx="11767931" cy="0"/>
          </a:xfrm>
          <a:prstGeom prst="line">
            <a:avLst/>
          </a:prstGeom>
          <a:ln w="57150">
            <a:solidFill>
              <a:srgbClr val="009043"/>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A3CA7D6-7EDA-41C2-A6F4-18C8ABE26730}"/>
              </a:ext>
            </a:extLst>
          </p:cNvPr>
          <p:cNvSpPr txBox="1"/>
          <p:nvPr/>
        </p:nvSpPr>
        <p:spPr>
          <a:xfrm>
            <a:off x="318052" y="278296"/>
            <a:ext cx="2698175" cy="523220"/>
          </a:xfrm>
          <a:prstGeom prst="rect">
            <a:avLst/>
          </a:prstGeom>
          <a:noFill/>
        </p:spPr>
        <p:txBody>
          <a:bodyPr wrap="none" rtlCol="0">
            <a:spAutoFit/>
          </a:bodyPr>
          <a:lstStyle/>
          <a:p>
            <a:r>
              <a:rPr lang="zh-TW" altLang="en-US" sz="2800" b="1" dirty="0">
                <a:latin typeface="Microsoft JhengHei" panose="020B0604030504040204" pitchFamily="34" charset="-120"/>
                <a:ea typeface="Microsoft JhengHei" panose="020B0604030504040204" pitchFamily="34" charset="-120"/>
                <a:cs typeface="Microsoft Tai Le" panose="020B0502040204020203" pitchFamily="34" charset="0"/>
              </a:rPr>
              <a:t>其他可分析目標</a:t>
            </a:r>
            <a:endParaRPr lang="en-US" sz="2800" b="1" dirty="0">
              <a:latin typeface="Microsoft JhengHei" panose="020B0604030504040204" pitchFamily="34" charset="-120"/>
              <a:ea typeface="Microsoft JhengHei" panose="020B0604030504040204" pitchFamily="34" charset="-120"/>
              <a:cs typeface="Microsoft Tai Le" panose="020B0502040204020203" pitchFamily="34" charset="0"/>
            </a:endParaRPr>
          </a:p>
        </p:txBody>
      </p:sp>
      <p:sp>
        <p:nvSpPr>
          <p:cNvPr id="9" name="TextBox 8">
            <a:extLst>
              <a:ext uri="{FF2B5EF4-FFF2-40B4-BE49-F238E27FC236}">
                <a16:creationId xmlns:a16="http://schemas.microsoft.com/office/drawing/2014/main" id="{3BDF5C2B-D5D9-414D-B81A-BF8FCCAA45BD}"/>
              </a:ext>
            </a:extLst>
          </p:cNvPr>
          <p:cNvSpPr txBox="1"/>
          <p:nvPr/>
        </p:nvSpPr>
        <p:spPr>
          <a:xfrm>
            <a:off x="556592" y="1524000"/>
            <a:ext cx="11290852" cy="2921184"/>
          </a:xfrm>
          <a:prstGeom prst="rect">
            <a:avLst/>
          </a:prstGeom>
          <a:noFill/>
        </p:spPr>
        <p:txBody>
          <a:bodyPr wrap="square" rtlCol="0">
            <a:spAutoFit/>
          </a:bodyPr>
          <a:lstStyle/>
          <a:p>
            <a:pPr marL="342900" indent="-342900">
              <a:lnSpc>
                <a:spcPct val="2000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是否擁有某些人格特質容易達成配對？是否擁有某些興趣容易達成配對？</a:t>
            </a:r>
            <a:endParaRPr lang="en-US" altLang="zh-TW" sz="2000" b="1" dirty="0">
              <a:latin typeface="Microsoft JhengHei" panose="020B0604030504040204" pitchFamily="34" charset="-120"/>
              <a:ea typeface="Microsoft JhengHei" panose="020B0604030504040204" pitchFamily="34" charset="-120"/>
            </a:endParaRPr>
          </a:p>
          <a:p>
            <a:pPr marL="342900" indent="-342900">
              <a:lnSpc>
                <a:spcPct val="200000"/>
              </a:lnSpc>
              <a:spcBef>
                <a:spcPts val="1200"/>
              </a:spcBef>
              <a:buFont typeface="Arial" panose="020B0604020202020204" pitchFamily="34" charset="0"/>
              <a:buChar char="•"/>
            </a:pPr>
            <a:r>
              <a:rPr lang="zh-TW" altLang="en-US" sz="2000" b="1" dirty="0">
                <a:latin typeface="Microsoft JhengHei" panose="020B0604030504040204" pitchFamily="34" charset="-120"/>
                <a:ea typeface="Microsoft JhengHei" panose="020B0604030504040204" pitchFamily="34" charset="-120"/>
              </a:rPr>
              <a:t>各項人格特質對於</a:t>
            </a:r>
            <a:r>
              <a:rPr lang="en-US" altLang="zh-TW" sz="2000" b="1" dirty="0">
                <a:latin typeface="Microsoft JhengHei" panose="020B0604030504040204" pitchFamily="34" charset="-120"/>
                <a:ea typeface="Microsoft JhengHei" panose="020B0604030504040204" pitchFamily="34" charset="-120"/>
              </a:rPr>
              <a:t>decision</a:t>
            </a:r>
            <a:r>
              <a:rPr lang="zh-TW" altLang="en-US" sz="2000" b="1" dirty="0">
                <a:latin typeface="Microsoft JhengHei" panose="020B0604030504040204" pitchFamily="34" charset="-120"/>
                <a:ea typeface="Microsoft JhengHei" panose="020B0604030504040204" pitchFamily="34" charset="-120"/>
              </a:rPr>
              <a:t> 的影響是否與對 </a:t>
            </a:r>
            <a:r>
              <a:rPr lang="en-US" altLang="zh-TW" sz="2000" b="1" dirty="0">
                <a:latin typeface="Microsoft JhengHei" panose="020B0604030504040204" pitchFamily="34" charset="-120"/>
                <a:ea typeface="Microsoft JhengHei" panose="020B0604030504040204" pitchFamily="34" charset="-120"/>
              </a:rPr>
              <a:t>match</a:t>
            </a:r>
            <a:r>
              <a:rPr lang="zh-TW" altLang="en-US" sz="2000" b="1" dirty="0">
                <a:latin typeface="Microsoft JhengHei" panose="020B0604030504040204" pitchFamily="34" charset="-120"/>
                <a:ea typeface="Microsoft JhengHei" panose="020B0604030504040204" pitchFamily="34" charset="-120"/>
              </a:rPr>
              <a:t> 的影響相同？</a:t>
            </a:r>
            <a:endParaRPr lang="en-US" altLang="zh-TW" sz="2000" b="1" dirty="0">
              <a:latin typeface="Microsoft JhengHei" panose="020B0604030504040204" pitchFamily="34" charset="-120"/>
              <a:ea typeface="Microsoft JhengHei" panose="020B0604030504040204" pitchFamily="34" charset="-120"/>
            </a:endParaRPr>
          </a:p>
          <a:p>
            <a:pPr marL="342900" indent="-342900">
              <a:lnSpc>
                <a:spcPct val="200000"/>
              </a:lnSpc>
              <a:spcBef>
                <a:spcPts val="1200"/>
              </a:spcBef>
              <a:buFont typeface="Arial" panose="020B0604020202020204" pitchFamily="34" charset="0"/>
              <a:buChar char="•"/>
            </a:pPr>
            <a:endParaRPr lang="en-US" altLang="zh-TW" sz="2000" b="1" dirty="0">
              <a:latin typeface="Microsoft JhengHei" panose="020B0604030504040204" pitchFamily="34" charset="-120"/>
              <a:ea typeface="Microsoft JhengHei" panose="020B0604030504040204" pitchFamily="34" charset="-120"/>
            </a:endParaRPr>
          </a:p>
          <a:p>
            <a:pPr>
              <a:lnSpc>
                <a:spcPct val="200000"/>
              </a:lnSpc>
              <a:spcBef>
                <a:spcPts val="1200"/>
              </a:spcBef>
            </a:pPr>
            <a:endParaRPr lang="en-US" sz="2000" b="1" dirty="0">
              <a:latin typeface="Microsoft JhengHei" panose="020B0604030504040204" pitchFamily="34" charset="-120"/>
              <a:ea typeface="Microsoft JhengHei" panose="020B0604030504040204" pitchFamily="34" charset="-120"/>
            </a:endParaRPr>
          </a:p>
        </p:txBody>
      </p:sp>
    </p:spTree>
    <p:extLst>
      <p:ext uri="{BB962C8B-B14F-4D97-AF65-F5344CB8AC3E}">
        <p14:creationId xmlns:p14="http://schemas.microsoft.com/office/powerpoint/2010/main" val="40869403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2123</TotalTime>
  <Words>756</Words>
  <Application>Microsoft Office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Microsoft JhengHei</vt:lpstr>
      <vt:lpstr>Microsoft JhengHei UI</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宛儒 余</dc:creator>
  <cp:lastModifiedBy>宛儒 余</cp:lastModifiedBy>
  <cp:revision>45</cp:revision>
  <dcterms:created xsi:type="dcterms:W3CDTF">2020-03-22T05:09:22Z</dcterms:created>
  <dcterms:modified xsi:type="dcterms:W3CDTF">2020-03-26T07:18:15Z</dcterms:modified>
</cp:coreProperties>
</file>